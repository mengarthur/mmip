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9724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（約 15 秒）大家好，我是林孟霆。我的期中專題叫 RouteVision：在晶片實體設計中，placement 一做完，就預測 routing 之後哪裡會繞線壅塞。右邊這個 8×8 的格子就是輸出：紅色是預測會塞的區塊。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（約 30 秒）快速回顧構想報告：routing 要跑好幾個小時才知道哪裡塞，EDA 工具內建的粗估又不夠準。我用 placement 後就有的特徵圖和設計參數，預測哪裡會塞，並比較多種方法。評估一律以「沒看過的晶片」為準，三個設計輪流當測試。期中新增的是下面這四項，今天的重點就是 demo 這些新功能。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（約 55 秒）這是最主要的結果：三個設計輪流當沒看過的晶片，ROC-AUC 的平均和標準差。所有學習方法平均都贏過兩個 EDA 粗估。最好的是 U-Net 多模態，0.984，三個設計都是第一；連 eGR 最強的 openc910-1，它也從 0.987 被超過。逐張版圖比較，288 張裡有 191 張的熱點 F1 贏過 eGR。而且標準差只有 eGR 的五分之一，代表換一顆晶片表現也很穩定。最後是 PR-AUC，它看的是模型說「這裡會塞」的時候可不可信，亂猜的分數等於熱點比例，熱點少時比 ROC-AUC 嚴格：U-Net 多模態是 0.937，eGR 只有 0.718，差距主要來自 eGR 的大量誤報。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（約 30 秒）系統是 Flask 後端加 HTML/JavaScript 前端。UI 的設計理念是把分析變成四個步驟的故事：每一步只講一件事，而且版面都一樣，左邊是 EDA 粗估、中間是 AI、右邊是真實結果，上方先給一句話結論。因為 ViT 在 CPU 上推論要 20 秒，server 啟動時會先把範例都算好，第一次分析從 62 秒降到 0.2 秒。接下來直接 demo。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（轉場，約 5 秒）接下來直接操作網頁。</a:t>
            </a:r>
          </a:p>
          <a:p>
            <a:r>
              <a:t>報告前準備：先執行 python app/server.py，等左側範例旁的綠點全亮（約 3 分鐘，之後重開會讀快取），瀏覽器開 http://127.0.0.1:5000 。</a:t>
            </a:r>
          </a:p>
          <a:p>
            <a:r>
              <a:t>現場：切到瀏覽器，依 ①→⑤ 操作；每一步要講的重點在後面 5 頁的講稿。若設備有問題，就直接翻後面 5 頁，或播放備用影片。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（約 25 秒）</a:t>
            </a:r>
          </a:p>
          <a:p>
            <a:r>
              <a:t>操作：點左側「沒看過的晶片」第一張 Vortex-small，停在第 ① 步。</a:t>
            </a:r>
          </a:p>
          <a:p>
            <a:r>
              <a:t>要講：這張晶片完全沒參與訓練。三張圖並排，左邊是 EDA 工具的 eGR，中間是 AI，右邊是 routing 後的真實熱點。紅色是抓到、斜線是誤報、藍框是漏掉。eGR 抓到 7 格，但誤報了 8 格；U-Net 多模態抓到 9 格，只誤報 1 格。上方這句話就是結論，F1 從 0.56 提升到 0.90。</a:t>
            </a:r>
          </a:p>
          <a:p>
            <a:r>
              <a:t>可補充：右上角下拉選單可以換成其他 AI 方法比較；滑鼠移到任何一格，三張圖會同步標示並顯示數值。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（約 30 秒）</a:t>
            </a:r>
          </a:p>
          <a:p>
            <a:r>
              <a:t>操作：按右方向鍵到第 ② 步。</a:t>
            </a:r>
          </a:p>
          <a:p>
            <a:r>
              <a:t>要講：第一個亮點。前面只回答「這格是不是熱點」，U-Net 直接預測 routing 後整張使用率圖，越亮越擠。和右邊的真實結果比，U-Net 畫出了左下角低使用率的方塊、還有水平的繞線條紋；eGR 則比較雜亂。這張的相關係數是 0.738，eGR 是 0.604；三個設計平均是 0.81 對 0.65。</a:t>
            </a:r>
          </a:p>
          <a:p>
            <a:r>
              <a:t>技術補充（被問再講）：編碼器是 ImageNet 預訓練的 ResNet-18，設計參數用 FiLM 注入；消融實驗顯示加入設計參數後，區塊熱點 ROC-AUC 從 0.970 升到 0.984，三個設計都提升。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（約 30 秒）</a:t>
            </a:r>
          </a:p>
          <a:p>
            <a:r>
              <a:t>操作：按右方向鍵到第 ③ 步。</a:t>
            </a:r>
          </a:p>
          <a:p>
            <a:r>
              <a:t>要講：第二個亮點。Ensemble 有三個做法完全不同的模型：Random Forest、Multimodal、ViT。同一格如果三個模型給的機率差很多，就代表沒把握，中間紫色框就是這些區塊。這不需要答案，推論時就能算。這張版圖 Ensemble 錯了 6 格，其中 4 格就在它標出的 7 個紫色框裡。三個設計平均，只要人工檢查最沒把握的 20% 區塊，就能抓到 78% 的錯誤。</a:t>
            </a:r>
          </a:p>
          <a:p>
            <a:r>
              <a:t>技術補充（被問再講）：不確定度＝三個模型機率的標準差。對照組是「分數離閾值越近越不確定」，在分布差最多的 openc910-1 上，對照組的 AUROC 只有 0.61，模型分歧有 0.93。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（約 20 秒）</a:t>
            </a:r>
          </a:p>
          <a:p>
            <a:r>
              <a:t>操作：按右方向鍵到第 ④ 步，預設是 U-Net 多模態。</a:t>
            </a:r>
          </a:p>
          <a:p>
            <a:r>
              <a:t>要講：Grad-CAM 用梯度算出每個特徵對答案的重要度，再畫回原圖。暖色是模型判斷熱點時最依賴的區域。最熱的地方落在真實熱點的虛線框上，代表模型學到的是真正的壅塞樣式；左下也有一塊關注、但不是熱點，這也是模型可以改進的地方。</a:t>
            </a:r>
          </a:p>
          <a:p>
            <a:r>
              <a:t>可補充：右上可以切到 CNN、Multimodal 比較。Random Forest、MLP、ViT 沒有卷積特徵圖，不能用 Grad-CAM。U-Net 用的是分割版的 Seg-Grad-CAM。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（約 20 秒）</a:t>
            </a:r>
          </a:p>
          <a:p>
            <a:r>
              <a:t>操作：按左上「上傳」，選 demo/upload_examples/vortex_D_no_answer.npz。</a:t>
            </a:r>
          </a:p>
          <a:p>
            <a:r>
              <a:t>要講：最後模擬真實情境：一個剛做完 placement、還沒 routing 的新設計，檔案裡沒有答案。系統一樣能預測熱點、畫出使用率圖、標出沒把握的區塊，右邊的真實結果則顯示沒有資料。</a:t>
            </a:r>
          </a:p>
          <a:p>
            <a:r>
              <a:t>備用：如果老師想看有答案的上傳，可以傳 A、B、C。C 是 U-Net 只抓到一半熱點的例子，可以誠實說明單張版圖會有變動；整體表現要看三個設計的平均。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（約 40 秒）大家可能會問：模型是不是太小？在同設計的驗證集上，0.3 M 參數的 CNN 就已經 0.99，題目本身太簡單，看不出差異。大 300 倍的 ViT 換一顆晶片也沒有比較好。真正讓跨晶片表現變好的，是把任務改成逐像素預測、再加上設計參數，落差從 0.03 到 0.04 降到 0.013。所以瓶頸是資料的多樣性，而不是模型容量。限制是只有 3 個設計、每組只訓練一次，而且熱點門檻還需要依設計調整，這是未來工作。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（約 20 秒）總結三點：第一，用沒看過的晶片評估，U-Net 多模態在三個設計上都勝過 EDA 工具的粗估；第二，系統不只判斷熱點，還能預測整張使用率圖、標出模型沒把握的地方，並說明判斷依據；第三，這是一個從資料到網頁的完整系統。未來會加入更多設計、讓熱點門檻能依設計自動調整，期末再加上 LLM Agent 解讀結果、給工程師修改建議。謝謝大家。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7830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6FD3C3"/>
                </a:solidFill>
                <a:latin typeface="Microsoft JhengHei"/>
              </a:rPr>
              <a:t>MMIP 期中專題 · 鑑別式 AI 系統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65836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000" b="1">
                <a:solidFill>
                  <a:srgbClr val="F4F8F6"/>
                </a:solidFill>
                <a:latin typeface="Microsoft JhengHei"/>
              </a:rPr>
              <a:t>RouteVision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37560"/>
            <a:ext cx="62179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0">
                <a:solidFill>
                  <a:srgbClr val="D7E4E0"/>
                </a:solidFill>
                <a:latin typeface="Microsoft JhengHei"/>
              </a:rPr>
              <a:t>placement 一完成，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0">
                <a:solidFill>
                  <a:srgbClr val="D7E4E0"/>
                </a:solidFill>
                <a:latin typeface="Microsoft JhengHei"/>
              </a:rPr>
              <a:t>就預測 routing 後哪裡會塞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760720"/>
            <a:ext cx="7315200" cy="2269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dirty="0">
                <a:solidFill>
                  <a:srgbClr val="A9BFBA"/>
                </a:solidFill>
                <a:latin typeface="Microsoft JhengHei"/>
              </a:rPr>
              <a:t>林孟霆 · 315833033  · 2026/10/28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79" y="146304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165592" y="146304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04504" y="146304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043415" y="146304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482328" y="146304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921240" y="146304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360151" y="146304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799063" y="146304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726679" y="1901952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165592" y="1901952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D94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604504" y="1901952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D94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043415" y="1901952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D94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482328" y="1901952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D94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921240" y="1901952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D94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360151" y="1901952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799063" y="1901952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726679" y="234086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D94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165592" y="234086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2A4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604504" y="234086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043415" y="234086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2A4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482328" y="234086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D94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921240" y="234086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D94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360151" y="234086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799063" y="234086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726679" y="2779776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2A4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165592" y="2779776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604504" y="2779776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043415" y="2779776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482328" y="2779776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D94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921240" y="2779776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2A4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10360151" y="2779776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0799063" y="2779776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7726679" y="3218688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8165592" y="3218688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8604504" y="3218688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9043415" y="3218688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2A4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9482328" y="3218688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D94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9921240" y="3218688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10360151" y="3218688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10799063" y="3218688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7726679" y="365760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8165592" y="365760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604504" y="365760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9043415" y="365760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9482328" y="365760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2A4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9921240" y="365760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10360151" y="365760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10799063" y="365760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7726679" y="4096512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8165592" y="4096512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604504" y="4096512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9043415" y="4096512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9482328" y="4096512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9921240" y="4096512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10360151" y="4096512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10799063" y="4096512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7726679" y="453542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8165592" y="453542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604504" y="453542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9043415" y="453542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9482328" y="453542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9921240" y="453542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10360151" y="453542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10799063" y="4535424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1C1E21"/>
                </a:solidFill>
                <a:latin typeface="Microsoft JhengHei"/>
              </a:rPr>
              <a:t>回顧：placement 一完成，就預測哪裡會塞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3545738" cy="2971800"/>
          </a:xfrm>
          <a:prstGeom prst="roundRect">
            <a:avLst>
              <a:gd name="adj" fmla="val 8000"/>
            </a:avLst>
          </a:prstGeom>
          <a:solidFill>
            <a:srgbClr val="F6F5F1"/>
          </a:solidFill>
          <a:ln w="15875">
            <a:solidFill>
              <a:srgbClr val="E3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59" y="1691640"/>
            <a:ext cx="299709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Microsoft JhengHei"/>
              </a:rPr>
              <a:t>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240280"/>
            <a:ext cx="2997098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500" b="0">
                <a:solidFill>
                  <a:srgbClr val="33373C"/>
                </a:solidFill>
                <a:latin typeface="Microsoft JhengHei"/>
              </a:rPr>
              <a:t>routing 要跑數小時才知道哪裡塞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500" b="0">
                <a:solidFill>
                  <a:srgbClr val="33373C"/>
                </a:solidFill>
                <a:latin typeface="Microsoft JhengHei"/>
              </a:rPr>
              <a:t>EDA 內建粗估（RUDY、eGR）和真實結果的相關係數只有 0.55、0.65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2978" y="1463040"/>
            <a:ext cx="3545738" cy="2971800"/>
          </a:xfrm>
          <a:prstGeom prst="roundRect">
            <a:avLst>
              <a:gd name="adj" fmla="val 8000"/>
            </a:avLst>
          </a:prstGeom>
          <a:solidFill>
            <a:srgbClr val="F6F5F1"/>
          </a:solidFill>
          <a:ln w="15875">
            <a:solidFill>
              <a:srgbClr val="E3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97298" y="1691640"/>
            <a:ext cx="299709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Microsoft JhengHei"/>
              </a:rPr>
              <a:t>做法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7298" y="2240280"/>
            <a:ext cx="2997098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500" b="0">
                <a:solidFill>
                  <a:srgbClr val="33373C"/>
                </a:solidFill>
                <a:latin typeface="Microsoft JhengHei"/>
              </a:rPr>
              <a:t>輸入 4 張 placement 特徵圖＋6 個設計參數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500" b="0">
                <a:solidFill>
                  <a:srgbClr val="33373C"/>
                </a:solidFill>
                <a:latin typeface="Microsoft JhengHei"/>
              </a:rPr>
              <a:t>輸出 8×8 熱點、整張使用率圖；比較 RF、MLP、CNN、Multimodal、ViT、Ensemble、U-Net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7316" y="1463040"/>
            <a:ext cx="3545738" cy="2971800"/>
          </a:xfrm>
          <a:prstGeom prst="roundRect">
            <a:avLst>
              <a:gd name="adj" fmla="val 8000"/>
            </a:avLst>
          </a:prstGeom>
          <a:solidFill>
            <a:srgbClr val="F6F5F1"/>
          </a:solidFill>
          <a:ln w="15875">
            <a:solidFill>
              <a:srgbClr val="E3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71636" y="1691640"/>
            <a:ext cx="299709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Microsoft JhengHei"/>
              </a:rPr>
              <a:t>評估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71636" y="2240280"/>
            <a:ext cx="2997098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500" b="0">
                <a:solidFill>
                  <a:srgbClr val="33373C"/>
                </a:solidFill>
                <a:latin typeface="Microsoft JhengHei"/>
              </a:rPr>
              <a:t>CircuitNet 2.0（14 nm）：GPU、AI 加速器、RISC-V，各 96 張版圖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500" b="0">
                <a:solidFill>
                  <a:srgbClr val="33373C"/>
                </a:solidFill>
                <a:latin typeface="Microsoft JhengHei"/>
              </a:rPr>
              <a:t>三個設計輪流當「沒看過的晶片」，閾值只在驗證集決定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54880"/>
            <a:ext cx="11094415" cy="868680"/>
          </a:xfrm>
          <a:prstGeom prst="roundRect">
            <a:avLst>
              <a:gd name="adj" fmla="val 12000"/>
            </a:avLst>
          </a:prstGeom>
          <a:solidFill>
            <a:srgbClr val="132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4754880"/>
            <a:ext cx="13716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6FD3C3"/>
                </a:solidFill>
                <a:latin typeface="Microsoft JhengHei"/>
              </a:rPr>
              <a:t>期中新增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31720" y="4965192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331720" y="4965192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4F8F6"/>
                </a:solidFill>
                <a:latin typeface="Microsoft JhengHei"/>
              </a:rPr>
              <a:t>U-Net 逐像素預測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4965192"/>
            <a:ext cx="1143000" cy="457200"/>
          </a:xfrm>
          <a:prstGeom prst="roundRect">
            <a:avLst>
              <a:gd name="adj" fmla="val 50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63440" y="4965192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4F8F6"/>
                </a:solidFill>
                <a:latin typeface="Microsoft JhengHei"/>
              </a:rPr>
              <a:t>可信度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4965192"/>
            <a:ext cx="2240280" cy="457200"/>
          </a:xfrm>
          <a:prstGeom prst="roundRect">
            <a:avLst>
              <a:gd name="adj" fmla="val 50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89320" y="4965192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4F8F6"/>
                </a:solidFill>
                <a:latin typeface="Microsoft JhengHei"/>
              </a:rPr>
              <a:t>Grad-CAM 判斷依據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4965192"/>
            <a:ext cx="1508760" cy="457200"/>
          </a:xfrm>
          <a:prstGeom prst="roundRect">
            <a:avLst>
              <a:gd name="adj" fmla="val 50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0" y="4965192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4F8F6"/>
                </a:solidFill>
                <a:latin typeface="Microsoft JhengHei"/>
              </a:rPr>
              <a:t>四步驟網頁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6F75"/>
                </a:solidFill>
                <a:latin typeface="Microsoft JhengHei"/>
              </a:rPr>
              <a:t>RouteVision · 林孟霆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6F75"/>
                </a:solidFill>
                <a:latin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1C1E21"/>
                </a:solidFill>
                <a:latin typeface="Microsoft JhengHei"/>
              </a:rPr>
              <a:t>結果：沒看過的晶片上，AI 更準也更穩定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B5D56"/>
                </a:solidFill>
                <a:latin typeface="Microsoft JhengHei"/>
              </a:rPr>
              <a:t>U-Net 多模態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1463040"/>
            <a:ext cx="4002633" cy="219456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72681" y="141732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5D56"/>
                </a:solidFill>
                <a:latin typeface="Microsoft JhengHei"/>
              </a:rPr>
              <a:t>0.984 ± 0.013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19656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73C"/>
                </a:solidFill>
                <a:latin typeface="Microsoft JhengHei"/>
              </a:rPr>
              <a:t>Ensemble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1865376"/>
            <a:ext cx="3614318" cy="219456"/>
          </a:xfrm>
          <a:prstGeom prst="roundRect">
            <a:avLst>
              <a:gd name="adj" fmla="val 15000"/>
            </a:avLst>
          </a:prstGeom>
          <a:solidFill>
            <a:srgbClr val="9CB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84366" y="1819656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33373C"/>
                </a:solidFill>
                <a:latin typeface="Microsoft JhengHei"/>
              </a:rPr>
              <a:t>0.971 ± 0.014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21992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73C"/>
                </a:solidFill>
                <a:latin typeface="Microsoft JhengHei"/>
              </a:rPr>
              <a:t>U-Net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2267712"/>
            <a:ext cx="3584448" cy="219456"/>
          </a:xfrm>
          <a:prstGeom prst="roundRect">
            <a:avLst>
              <a:gd name="adj" fmla="val 15000"/>
            </a:avLst>
          </a:prstGeom>
          <a:solidFill>
            <a:srgbClr val="9CB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54496" y="2221992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33373C"/>
                </a:solidFill>
                <a:latin typeface="Microsoft JhengHei"/>
              </a:rPr>
              <a:t>0.970 ± 0.020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24328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73C"/>
                </a:solidFill>
                <a:latin typeface="Microsoft JhengHei"/>
              </a:rPr>
              <a:t>Random Forest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2670048"/>
            <a:ext cx="3494836" cy="219456"/>
          </a:xfrm>
          <a:prstGeom prst="roundRect">
            <a:avLst>
              <a:gd name="adj" fmla="val 15000"/>
            </a:avLst>
          </a:prstGeom>
          <a:solidFill>
            <a:srgbClr val="9CB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64884" y="2624328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33373C"/>
                </a:solidFill>
                <a:latin typeface="Microsoft JhengHei"/>
              </a:rPr>
              <a:t>0.967 ± 0.020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26664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73C"/>
                </a:solidFill>
                <a:latin typeface="Microsoft JhengHei"/>
              </a:rPr>
              <a:t>Multimodal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0" y="3072384"/>
            <a:ext cx="3464966" cy="219456"/>
          </a:xfrm>
          <a:prstGeom prst="roundRect">
            <a:avLst>
              <a:gd name="adj" fmla="val 15000"/>
            </a:avLst>
          </a:prstGeom>
          <a:solidFill>
            <a:srgbClr val="9CB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35014" y="3026664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33373C"/>
                </a:solidFill>
                <a:latin typeface="Microsoft JhengHei"/>
              </a:rPr>
              <a:t>0.966 ± 0.018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42900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73C"/>
                </a:solidFill>
                <a:latin typeface="Microsoft JhengHei"/>
              </a:rPr>
              <a:t>ViT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60320" y="3474720"/>
            <a:ext cx="3136392" cy="219456"/>
          </a:xfrm>
          <a:prstGeom prst="roundRect">
            <a:avLst>
              <a:gd name="adj" fmla="val 15000"/>
            </a:avLst>
          </a:prstGeom>
          <a:solidFill>
            <a:srgbClr val="9CB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06440" y="342900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33373C"/>
                </a:solidFill>
                <a:latin typeface="Microsoft JhengHei"/>
              </a:rPr>
              <a:t>0.955 ± 0.021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831336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73C"/>
                </a:solidFill>
                <a:latin typeface="Microsoft JhengHei"/>
              </a:rPr>
              <a:t>CNN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60320" y="3877056"/>
            <a:ext cx="3016910" cy="219456"/>
          </a:xfrm>
          <a:prstGeom prst="roundRect">
            <a:avLst>
              <a:gd name="adj" fmla="val 15000"/>
            </a:avLst>
          </a:prstGeom>
          <a:solidFill>
            <a:srgbClr val="9CB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86958" y="3831336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33373C"/>
                </a:solidFill>
                <a:latin typeface="Microsoft JhengHei"/>
              </a:rPr>
              <a:t>0.951 ± 0.022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33672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73C"/>
                </a:solidFill>
                <a:latin typeface="Microsoft JhengHei"/>
              </a:rPr>
              <a:t>MLP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60320" y="4279392"/>
            <a:ext cx="2419502" cy="219456"/>
          </a:xfrm>
          <a:prstGeom prst="roundRect">
            <a:avLst>
              <a:gd name="adj" fmla="val 15000"/>
            </a:avLst>
          </a:prstGeom>
          <a:solidFill>
            <a:srgbClr val="9CB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89550" y="4233672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33373C"/>
                </a:solidFill>
                <a:latin typeface="Microsoft JhengHei"/>
              </a:rPr>
              <a:t>0.931 ± 0.047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636008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6B6F75"/>
                </a:solidFill>
                <a:latin typeface="Microsoft JhengHei"/>
              </a:rPr>
              <a:t>eGR（EDA）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60320" y="4681728"/>
            <a:ext cx="1822094" cy="219456"/>
          </a:xfrm>
          <a:prstGeom prst="roundRect">
            <a:avLst>
              <a:gd name="adj" fmla="val 15000"/>
            </a:avLst>
          </a:prstGeom>
          <a:solidFill>
            <a:srgbClr val="C9C3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92142" y="4636008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B6F75"/>
                </a:solidFill>
                <a:latin typeface="Microsoft JhengHei"/>
              </a:rPr>
              <a:t>0.911 ± 0.069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038344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6B6F75"/>
                </a:solidFill>
                <a:latin typeface="Microsoft JhengHei"/>
              </a:rPr>
              <a:t>RUDY（EDA）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60320" y="5084064"/>
            <a:ext cx="925982" cy="219456"/>
          </a:xfrm>
          <a:prstGeom prst="roundRect">
            <a:avLst>
              <a:gd name="adj" fmla="val 15000"/>
            </a:avLst>
          </a:prstGeom>
          <a:solidFill>
            <a:srgbClr val="C9C3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596030" y="5038344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B6F75"/>
                </a:solidFill>
                <a:latin typeface="Microsoft JhengHei"/>
              </a:rPr>
              <a:t>0.881 ± 0.061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48640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6F75"/>
                </a:solidFill>
                <a:latin typeface="Microsoft JhengHei"/>
              </a:rPr>
              <a:t>ROC-AUC，三個設計輪流當測試的平均 ± 標準差；橫軸從 0.85 開始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1325880"/>
            <a:ext cx="3474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0F766E"/>
                </a:solidFill>
                <a:latin typeface="Microsoft JhengHei"/>
              </a:rPr>
              <a:t>3 /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1828800"/>
            <a:ext cx="3429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33373C"/>
                </a:solidFill>
                <a:latin typeface="Microsoft JhengHei"/>
              </a:rPr>
              <a:t>個設計都是第一，包括 eGR 最強的 openc910-1（0.994 vs 0.987）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2404872"/>
            <a:ext cx="3474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0F766E"/>
                </a:solidFill>
                <a:latin typeface="Microsoft JhengHei"/>
              </a:rPr>
              <a:t>191 / 288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2907791"/>
            <a:ext cx="3429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33373C"/>
                </a:solidFill>
                <a:latin typeface="Microsoft JhengHei"/>
              </a:rPr>
              <a:t>張版圖的熱點 F1 贏過 eGR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3483863"/>
            <a:ext cx="3474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0F766E"/>
                </a:solidFill>
                <a:latin typeface="Microsoft JhengHei"/>
              </a:rPr>
              <a:t>± 0.013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986783"/>
            <a:ext cx="3429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33373C"/>
                </a:solidFill>
                <a:latin typeface="Microsoft JhengHei"/>
              </a:rPr>
              <a:t>標準差只有 eGR（± 0.069）的五分之一，換晶片也穩定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4562856"/>
            <a:ext cx="3474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0F766E"/>
                </a:solidFill>
                <a:latin typeface="Microsoft JhengHei"/>
              </a:rPr>
              <a:t>0.937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5065776"/>
            <a:ext cx="3429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33373C"/>
                </a:solidFill>
                <a:latin typeface="Microsoft JhengHei"/>
              </a:rPr>
              <a:t>PR-AUC：標出的熱點有多可信（eGR 0.718）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6F75"/>
                </a:solidFill>
                <a:latin typeface="Microsoft JhengHei"/>
              </a:rPr>
              <a:t>RouteVision · 林孟霆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6F75"/>
                </a:solidFill>
                <a:latin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1C1E21"/>
                </a:solidFill>
                <a:latin typeface="Microsoft JhengHei"/>
              </a:rPr>
              <a:t>系統：把分析變成四個步驟的故事</a:t>
            </a:r>
          </a:p>
        </p:txBody>
      </p:sp>
      <p:pic>
        <p:nvPicPr>
          <p:cNvPr id="3" name="Picture 2" descr="ui_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7040880" cy="4009390"/>
          </a:xfrm>
          <a:prstGeom prst="rect">
            <a:avLst/>
          </a:prstGeom>
          <a:ln>
            <a:solidFill>
              <a:srgbClr val="D8D3C8"/>
            </a:solidFill>
          </a:ln>
        </p:spPr>
      </p:pic>
      <p:sp>
        <p:nvSpPr>
          <p:cNvPr id="4" name="Oval 3"/>
          <p:cNvSpPr/>
          <p:nvPr/>
        </p:nvSpPr>
        <p:spPr>
          <a:xfrm>
            <a:off x="8001000" y="1508760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01000" y="15087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4F8F6"/>
                </a:solidFill>
                <a:latin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1490472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1C1E21"/>
                </a:solidFill>
                <a:latin typeface="Microsoft JhengHei"/>
              </a:rPr>
              <a:t>一步只講一件事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892807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5A5F66"/>
                </a:solidFill>
                <a:latin typeface="Microsoft JhengHei"/>
              </a:rPr>
              <a:t>熱點 → 使用率圖 → 可信度 → 判斷依據</a:t>
            </a:r>
          </a:p>
        </p:txBody>
      </p:sp>
      <p:sp>
        <p:nvSpPr>
          <p:cNvPr id="8" name="Oval 7"/>
          <p:cNvSpPr/>
          <p:nvPr/>
        </p:nvSpPr>
        <p:spPr>
          <a:xfrm>
            <a:off x="8001000" y="2496312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01000" y="24963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4F8F6"/>
                </a:solidFill>
                <a:latin typeface="Microsoft Jheng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478024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1C1E21"/>
                </a:solidFill>
                <a:latin typeface="Microsoft JhengHei"/>
              </a:rPr>
              <a:t>同一個版面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288036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5A5F66"/>
                </a:solidFill>
                <a:latin typeface="Microsoft JhengHei"/>
              </a:rPr>
              <a:t>EDA ↔ AI ↔ 真實三圖並排，滑鼠同步</a:t>
            </a:r>
          </a:p>
        </p:txBody>
      </p:sp>
      <p:sp>
        <p:nvSpPr>
          <p:cNvPr id="12" name="Oval 11"/>
          <p:cNvSpPr/>
          <p:nvPr/>
        </p:nvSpPr>
        <p:spPr>
          <a:xfrm>
            <a:off x="8001000" y="3483864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01000" y="348386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4F8F6"/>
                </a:solidFill>
                <a:latin typeface="Microsoft JhengHe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3465576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1C1E21"/>
                </a:solidFill>
                <a:latin typeface="Microsoft JhengHei"/>
              </a:rPr>
              <a:t>先給結論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867912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5A5F66"/>
                </a:solidFill>
                <a:latin typeface="Microsoft JhengHei"/>
              </a:rPr>
              <a:t>一句話摘要，細節收進展開</a:t>
            </a:r>
          </a:p>
        </p:txBody>
      </p:sp>
      <p:sp>
        <p:nvSpPr>
          <p:cNvPr id="16" name="Oval 15"/>
          <p:cNvSpPr/>
          <p:nvPr/>
        </p:nvSpPr>
        <p:spPr>
          <a:xfrm>
            <a:off x="8001000" y="4471416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01000" y="44714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4F8F6"/>
                </a:solidFill>
                <a:latin typeface="Microsoft Jheng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4453128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1C1E21"/>
                </a:solidFill>
                <a:latin typeface="Microsoft JhengHei"/>
              </a:rPr>
              <a:t>不讓人等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4855464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5A5F66"/>
                </a:solidFill>
                <a:latin typeface="Microsoft JhengHei"/>
              </a:rPr>
              <a:t>預先計算：第一次分析 62 秒 → 0.2 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6F75"/>
                </a:solidFill>
                <a:latin typeface="Microsoft JhengHei"/>
              </a:rPr>
              <a:t>RouteVision · 林孟霆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6F75"/>
                </a:solidFill>
                <a:latin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2344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6FD3C3"/>
                </a:solidFill>
                <a:latin typeface="Microsoft JhengHei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F4F8F6"/>
                </a:solidFill>
                <a:latin typeface="Microsoft JhengHei"/>
              </a:rPr>
              <a:t>一張沒看過的晶片，五個操作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880360"/>
            <a:ext cx="1999427" cy="1508760"/>
          </a:xfrm>
          <a:prstGeom prst="roundRect">
            <a:avLst>
              <a:gd name="adj" fmla="val 10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3035808"/>
            <a:ext cx="163366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6FD3C3"/>
                </a:solidFill>
                <a:latin typeface="Microsoft JhengHei"/>
              </a:rPr>
              <a:t>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401568"/>
            <a:ext cx="163366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F4F8F6"/>
                </a:solidFill>
                <a:latin typeface="Microsoft JhengHei"/>
              </a:rPr>
              <a:t>熱點預測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858768"/>
            <a:ext cx="163366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A9BFBA"/>
                </a:solidFill>
                <a:latin typeface="Microsoft JhengHei"/>
              </a:rPr>
              <a:t>AI 比粗估少誤報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13827" y="2880360"/>
            <a:ext cx="1999427" cy="1508760"/>
          </a:xfrm>
          <a:prstGeom prst="roundRect">
            <a:avLst>
              <a:gd name="adj" fmla="val 10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42427" y="3035808"/>
            <a:ext cx="163366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6FD3C3"/>
                </a:solidFill>
                <a:latin typeface="Microsoft JhengHei"/>
              </a:rPr>
              <a:t>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42427" y="3401568"/>
            <a:ext cx="163366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F4F8F6"/>
                </a:solidFill>
                <a:latin typeface="Microsoft JhengHei"/>
              </a:rPr>
              <a:t>使用率圖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42427" y="3858768"/>
            <a:ext cx="163366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A9BFBA"/>
                </a:solidFill>
                <a:latin typeface="Microsoft JhengHei"/>
              </a:rPr>
              <a:t>亮點一：U-Net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96134" y="2880360"/>
            <a:ext cx="1999427" cy="1508760"/>
          </a:xfrm>
          <a:prstGeom prst="roundRect">
            <a:avLst>
              <a:gd name="adj" fmla="val 10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24734" y="3035808"/>
            <a:ext cx="163366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6FD3C3"/>
                </a:solidFill>
                <a:latin typeface="Microsoft JhengHei"/>
              </a:rPr>
              <a:t>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24734" y="3401568"/>
            <a:ext cx="163366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F4F8F6"/>
                </a:solidFill>
                <a:latin typeface="Microsoft JhengHei"/>
              </a:rPr>
              <a:t>可信度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4734" y="3858768"/>
            <a:ext cx="163366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A9BFBA"/>
                </a:solidFill>
                <a:latin typeface="Microsoft JhengHei"/>
              </a:rPr>
              <a:t>亮點二：不確定度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78441" y="2880360"/>
            <a:ext cx="1999427" cy="1508760"/>
          </a:xfrm>
          <a:prstGeom prst="roundRect">
            <a:avLst>
              <a:gd name="adj" fmla="val 10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07041" y="3035808"/>
            <a:ext cx="163366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6FD3C3"/>
                </a:solidFill>
                <a:latin typeface="Microsoft JhengHei"/>
              </a:rPr>
              <a:t>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07041" y="3401568"/>
            <a:ext cx="163366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F4F8F6"/>
                </a:solidFill>
                <a:latin typeface="Microsoft JhengHei"/>
              </a:rPr>
              <a:t>判斷依據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07041" y="3858768"/>
            <a:ext cx="163366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A9BFBA"/>
                </a:solidFill>
                <a:latin typeface="Microsoft JhengHei"/>
              </a:rPr>
              <a:t>Grad-CAM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60748" y="2880360"/>
            <a:ext cx="1999427" cy="1508760"/>
          </a:xfrm>
          <a:prstGeom prst="roundRect">
            <a:avLst>
              <a:gd name="adj" fmla="val 10000"/>
            </a:avLst>
          </a:prstGeom>
          <a:solidFill>
            <a:srgbClr val="1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89348" y="3035808"/>
            <a:ext cx="163366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6FD3C3"/>
                </a:solidFill>
                <a:latin typeface="Microsoft JhengHei"/>
              </a:rPr>
              <a:t>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89348" y="3401568"/>
            <a:ext cx="163366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F4F8F6"/>
                </a:solidFill>
                <a:latin typeface="Microsoft JhengHei"/>
              </a:rPr>
              <a:t>上傳新版圖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89348" y="3858768"/>
            <a:ext cx="163366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A9BFBA"/>
                </a:solidFill>
                <a:latin typeface="Microsoft JhengHei"/>
              </a:rPr>
              <a:t>沒有答案的設計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7548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A9BFBA"/>
                </a:solidFill>
                <a:latin typeface="Microsoft JhengHei"/>
              </a:rPr>
              <a:t>按 → 換步驟、↑↓ 換版圖。接下來 5 頁是每一步要看的重點（現場設備有問題時照著講）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A9BFBA"/>
                </a:solidFill>
                <a:latin typeface="Microsoft JhengHei"/>
              </a:rPr>
              <a:t>備用影片：[Demo 影片連結]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F766E"/>
                </a:solidFill>
                <a:latin typeface="Microsoft JhengHei"/>
              </a:rPr>
              <a:t>DEMO ① 熱點預測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0" y="429768"/>
            <a:ext cx="56080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B6F75"/>
                </a:solidFill>
                <a:latin typeface="Microsoft JhengHei"/>
              </a:rPr>
              <a:t>操作：點左側第一張 Vortex-small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1C1E21"/>
                </a:solidFill>
                <a:latin typeface="Microsoft JhengHei"/>
              </a:rPr>
              <a:t>AI 比 EDA 粗估少了很多誤報</a:t>
            </a:r>
          </a:p>
        </p:txBody>
      </p:sp>
      <p:pic>
        <p:nvPicPr>
          <p:cNvPr id="5" name="Picture 4" descr="crop_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527" y="1508760"/>
            <a:ext cx="9692640" cy="353992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166360"/>
            <a:ext cx="3545738" cy="868680"/>
          </a:xfrm>
          <a:prstGeom prst="roundRect">
            <a:avLst>
              <a:gd name="adj" fmla="val 12000"/>
            </a:avLst>
          </a:prstGeom>
          <a:solidFill>
            <a:srgbClr val="F6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5166360"/>
            <a:ext cx="308853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33373C"/>
                </a:solidFill>
                <a:latin typeface="Microsoft JhengHei"/>
              </a:rPr>
              <a:t>左：eGR 抓到 7/10，</a:t>
            </a:r>
            <a:r>
              <a:rPr sz="1500" b="1">
                <a:solidFill>
                  <a:srgbClr val="0B5D56"/>
                </a:solidFill>
                <a:latin typeface="Microsoft JhengHei"/>
              </a:rPr>
              <a:t>誤報 8 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2978" y="5166360"/>
            <a:ext cx="3545738" cy="868680"/>
          </a:xfrm>
          <a:prstGeom prst="roundRect">
            <a:avLst>
              <a:gd name="adj" fmla="val 12000"/>
            </a:avLst>
          </a:prstGeom>
          <a:solidFill>
            <a:srgbClr val="F6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1578" y="5166360"/>
            <a:ext cx="308853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33373C"/>
                </a:solidFill>
                <a:latin typeface="Microsoft JhengHei"/>
              </a:rPr>
              <a:t>中：U-Net 抓到 9/10，</a:t>
            </a:r>
            <a:r>
              <a:rPr sz="1500" b="1">
                <a:solidFill>
                  <a:srgbClr val="0B5D56"/>
                </a:solidFill>
                <a:latin typeface="Microsoft JhengHei"/>
              </a:rPr>
              <a:t>只誤報 1 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7316" y="5166360"/>
            <a:ext cx="3545738" cy="868680"/>
          </a:xfrm>
          <a:prstGeom prst="roundRect">
            <a:avLst>
              <a:gd name="adj" fmla="val 12000"/>
            </a:avLst>
          </a:prstGeom>
          <a:solidFill>
            <a:srgbClr val="F6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5916" y="5166360"/>
            <a:ext cx="308853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33373C"/>
                </a:solidFill>
                <a:latin typeface="Microsoft JhengHei"/>
              </a:rPr>
              <a:t>上方一句話結論：</a:t>
            </a:r>
            <a:r>
              <a:rPr sz="1500" b="1">
                <a:solidFill>
                  <a:srgbClr val="0B5D56"/>
                </a:solidFill>
                <a:latin typeface="Microsoft JhengHei"/>
              </a:rPr>
              <a:t>F1 0.900 vs 0.560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6F75"/>
                </a:solidFill>
                <a:latin typeface="Microsoft JhengHei"/>
              </a:rPr>
              <a:t>RouteVision · 林孟霆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6F75"/>
                </a:solidFill>
                <a:latin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F766E"/>
                </a:solidFill>
                <a:latin typeface="Microsoft JhengHei"/>
              </a:rPr>
              <a:t>DEMO ② 使用率圖 · 亮點一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0" y="429768"/>
            <a:ext cx="56080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B6F75"/>
                </a:solidFill>
                <a:latin typeface="Microsoft JhengHei"/>
              </a:rPr>
              <a:t>操作：按 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1C1E21"/>
                </a:solidFill>
                <a:latin typeface="Microsoft JhengHei"/>
              </a:rPr>
              <a:t>U-Net 直接畫出 routing 後的整張使用率圖</a:t>
            </a:r>
          </a:p>
        </p:txBody>
      </p:sp>
      <p:pic>
        <p:nvPicPr>
          <p:cNvPr id="5" name="Picture 4" descr="crop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527" y="1508760"/>
            <a:ext cx="9692640" cy="353992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166360"/>
            <a:ext cx="3545738" cy="868680"/>
          </a:xfrm>
          <a:prstGeom prst="roundRect">
            <a:avLst>
              <a:gd name="adj" fmla="val 12000"/>
            </a:avLst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5166360"/>
            <a:ext cx="308853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33373C"/>
                </a:solidFill>
                <a:latin typeface="Microsoft JhengHei"/>
              </a:rPr>
              <a:t>這張：相關係數 </a:t>
            </a:r>
            <a:r>
              <a:rPr sz="1500" b="1">
                <a:solidFill>
                  <a:srgbClr val="0B5D56"/>
                </a:solidFill>
                <a:latin typeface="Microsoft JhengHei"/>
              </a:rPr>
              <a:t>0.738</a:t>
            </a:r>
            <a:r>
              <a:rPr sz="1500" b="0">
                <a:solidFill>
                  <a:srgbClr val="33373C"/>
                </a:solidFill>
                <a:latin typeface="Microsoft JhengHei"/>
              </a:rPr>
              <a:t>，eGR 0.604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2978" y="5166360"/>
            <a:ext cx="3545738" cy="868680"/>
          </a:xfrm>
          <a:prstGeom prst="roundRect">
            <a:avLst>
              <a:gd name="adj" fmla="val 12000"/>
            </a:avLst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1578" y="5166360"/>
            <a:ext cx="308853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33373C"/>
                </a:solidFill>
                <a:latin typeface="Microsoft JhengHei"/>
              </a:rPr>
              <a:t>三設計平均：</a:t>
            </a:r>
            <a:r>
              <a:rPr sz="1500" b="1">
                <a:solidFill>
                  <a:srgbClr val="0B5D56"/>
                </a:solidFill>
                <a:latin typeface="Microsoft JhengHei"/>
              </a:rPr>
              <a:t>0.81</a:t>
            </a:r>
            <a:r>
              <a:rPr sz="1500" b="0">
                <a:solidFill>
                  <a:srgbClr val="33373C"/>
                </a:solidFill>
                <a:latin typeface="Microsoft JhengHei"/>
              </a:rPr>
              <a:t> vs 0.65；SSIM 0.45 vs 0.24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7316" y="5166360"/>
            <a:ext cx="3545738" cy="868680"/>
          </a:xfrm>
          <a:prstGeom prst="roundRect">
            <a:avLst>
              <a:gd name="adj" fmla="val 12000"/>
            </a:avLst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5916" y="5166360"/>
            <a:ext cx="308853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33373C"/>
                </a:solidFill>
                <a:latin typeface="Microsoft JhengHei"/>
              </a:rPr>
              <a:t>畫出左下的低使用率方塊和水平繞線條紋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6F75"/>
                </a:solidFill>
                <a:latin typeface="Microsoft JhengHei"/>
              </a:rPr>
              <a:t>RouteVision · 林孟霆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6F75"/>
                </a:solidFill>
                <a:latin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F766E"/>
                </a:solidFill>
                <a:latin typeface="Microsoft JhengHei"/>
              </a:rPr>
              <a:t>DEMO ③ 可信度 · 亮點二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0" y="429768"/>
            <a:ext cx="56080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B6F75"/>
                </a:solidFill>
                <a:latin typeface="Microsoft JhengHei"/>
              </a:rPr>
              <a:t>操作：按 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1C1E21"/>
                </a:solidFill>
                <a:latin typeface="Microsoft JhengHei"/>
              </a:rPr>
              <a:t>模型標出自己沒把握的地方</a:t>
            </a:r>
          </a:p>
        </p:txBody>
      </p:sp>
      <p:pic>
        <p:nvPicPr>
          <p:cNvPr id="5" name="Picture 4" descr="crop_tru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527" y="1508760"/>
            <a:ext cx="9692640" cy="353992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166360"/>
            <a:ext cx="3545738" cy="868680"/>
          </a:xfrm>
          <a:prstGeom prst="roundRect">
            <a:avLst>
              <a:gd name="adj" fmla="val 12000"/>
            </a:avLst>
          </a:prstGeom>
          <a:solidFill>
            <a:srgbClr val="F6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5166360"/>
            <a:ext cx="308853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33373C"/>
                </a:solidFill>
                <a:latin typeface="Microsoft JhengHei"/>
              </a:rPr>
              <a:t>這張：錯 6 格，</a:t>
            </a:r>
            <a:r>
              <a:rPr sz="1500" b="1">
                <a:solidFill>
                  <a:srgbClr val="0B5D56"/>
                </a:solidFill>
                <a:latin typeface="Microsoft JhengHei"/>
              </a:rPr>
              <a:t>4 格在紫色框裡</a:t>
            </a:r>
            <a:r>
              <a:rPr sz="1500" b="0">
                <a:solidFill>
                  <a:srgbClr val="33373C"/>
                </a:solidFill>
                <a:latin typeface="Microsoft JhengHei"/>
              </a:rPr>
              <a:t>（共 7 格）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2978" y="5166360"/>
            <a:ext cx="3545738" cy="868680"/>
          </a:xfrm>
          <a:prstGeom prst="roundRect">
            <a:avLst>
              <a:gd name="adj" fmla="val 12000"/>
            </a:avLst>
          </a:prstGeom>
          <a:solidFill>
            <a:srgbClr val="F6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1578" y="5166360"/>
            <a:ext cx="308853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33373C"/>
                </a:solidFill>
                <a:latin typeface="Microsoft JhengHei"/>
              </a:rPr>
              <a:t>平均：最沒把握的 20%，涵蓋 </a:t>
            </a:r>
            <a:r>
              <a:rPr sz="1500" b="1">
                <a:solidFill>
                  <a:srgbClr val="0B5D56"/>
                </a:solidFill>
                <a:latin typeface="Microsoft JhengHei"/>
              </a:rPr>
              <a:t>78%</a:t>
            </a:r>
            <a:r>
              <a:rPr sz="1500" b="0">
                <a:solidFill>
                  <a:srgbClr val="33373C"/>
                </a:solidFill>
                <a:latin typeface="Microsoft JhengHei"/>
              </a:rPr>
              <a:t> 的錯誤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7316" y="5166360"/>
            <a:ext cx="3545738" cy="868680"/>
          </a:xfrm>
          <a:prstGeom prst="roundRect">
            <a:avLst>
              <a:gd name="adj" fmla="val 12000"/>
            </a:avLst>
          </a:prstGeom>
          <a:solidFill>
            <a:srgbClr val="F6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5916" y="5166360"/>
            <a:ext cx="308853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33373C"/>
                </a:solidFill>
                <a:latin typeface="Microsoft JhengHei"/>
              </a:rPr>
              <a:t>openc910-1：</a:t>
            </a:r>
            <a:r>
              <a:rPr sz="1500" b="1">
                <a:solidFill>
                  <a:srgbClr val="0B5D56"/>
                </a:solidFill>
                <a:latin typeface="Microsoft JhengHei"/>
              </a:rPr>
              <a:t>0.93</a:t>
            </a:r>
            <a:r>
              <a:rPr sz="1500" b="0">
                <a:solidFill>
                  <a:srgbClr val="33373C"/>
                </a:solidFill>
                <a:latin typeface="Microsoft JhengHei"/>
              </a:rPr>
              <a:t>，簡單對照組只有 0.61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6F75"/>
                </a:solidFill>
                <a:latin typeface="Microsoft JhengHei"/>
              </a:rPr>
              <a:t>RouteVision · 林孟霆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6F75"/>
                </a:solidFill>
                <a:latin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F766E"/>
                </a:solidFill>
                <a:latin typeface="Microsoft JhengHei"/>
              </a:rPr>
              <a:t>DEMO ④ 判斷依據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0" y="429768"/>
            <a:ext cx="56080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B6F75"/>
                </a:solidFill>
                <a:latin typeface="Microsoft JhengHei"/>
              </a:rPr>
              <a:t>操作：按 →；右上可換 CNN、Multimodal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1C1E21"/>
                </a:solidFill>
                <a:latin typeface="Microsoft JhengHei"/>
              </a:rPr>
              <a:t>Grad-CAM：模型看哪裡判斷熱點</a:t>
            </a:r>
          </a:p>
        </p:txBody>
      </p:sp>
      <p:pic>
        <p:nvPicPr>
          <p:cNvPr id="5" name="Picture 4" descr="crop_wh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527" y="1508760"/>
            <a:ext cx="9692640" cy="353992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166360"/>
            <a:ext cx="3545738" cy="868680"/>
          </a:xfrm>
          <a:prstGeom prst="roundRect">
            <a:avLst>
              <a:gd name="adj" fmla="val 12000"/>
            </a:avLst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5166360"/>
            <a:ext cx="308853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33373C"/>
                </a:solidFill>
                <a:latin typeface="Microsoft JhengHei"/>
              </a:rPr>
              <a:t>暖色＝判斷熱點時</a:t>
            </a:r>
            <a:r>
              <a:rPr sz="1500" b="1">
                <a:solidFill>
                  <a:srgbClr val="0B5D56"/>
                </a:solidFill>
                <a:latin typeface="Microsoft JhengHei"/>
              </a:rPr>
              <a:t>最依賴</a:t>
            </a:r>
            <a:r>
              <a:rPr sz="1500" b="0">
                <a:solidFill>
                  <a:srgbClr val="33373C"/>
                </a:solidFill>
                <a:latin typeface="Microsoft JhengHei"/>
              </a:rPr>
              <a:t>的區域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2978" y="5166360"/>
            <a:ext cx="3545738" cy="868680"/>
          </a:xfrm>
          <a:prstGeom prst="roundRect">
            <a:avLst>
              <a:gd name="adj" fmla="val 12000"/>
            </a:avLst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1578" y="5166360"/>
            <a:ext cx="308853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33373C"/>
                </a:solidFill>
                <a:latin typeface="Microsoft JhengHei"/>
              </a:rPr>
              <a:t>最熱的地方落在</a:t>
            </a:r>
            <a:r>
              <a:rPr sz="1500" b="1">
                <a:solidFill>
                  <a:srgbClr val="0B5D56"/>
                </a:solidFill>
                <a:latin typeface="Microsoft JhengHei"/>
              </a:rPr>
              <a:t>真實熱點</a:t>
            </a:r>
            <a:r>
              <a:rPr sz="1500" b="0">
                <a:solidFill>
                  <a:srgbClr val="33373C"/>
                </a:solidFill>
                <a:latin typeface="Microsoft JhengHei"/>
              </a:rPr>
              <a:t>（虛線框）上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7316" y="5166360"/>
            <a:ext cx="3545738" cy="868680"/>
          </a:xfrm>
          <a:prstGeom prst="roundRect">
            <a:avLst>
              <a:gd name="adj" fmla="val 12000"/>
            </a:avLst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5916" y="5166360"/>
            <a:ext cx="308853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33373C"/>
                </a:solidFill>
                <a:latin typeface="Microsoft JhengHei"/>
              </a:rPr>
              <a:t>左下也有一塊關注，但不是熱點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6F75"/>
                </a:solidFill>
                <a:latin typeface="Microsoft JhengHei"/>
              </a:rPr>
              <a:t>RouteVision · 林孟霆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6F75"/>
                </a:solidFill>
                <a:latin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F766E"/>
                </a:solidFill>
                <a:latin typeface="Microsoft JhengHei"/>
              </a:rPr>
              <a:t>DEMO ⑤ 上傳新版圖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0" y="429768"/>
            <a:ext cx="56080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B6F75"/>
                </a:solidFill>
                <a:latin typeface="Microsoft JhengHei"/>
              </a:rPr>
              <a:t>檔案：demo/upload_examples/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1C1E21"/>
                </a:solidFill>
                <a:latin typeface="Microsoft JhengHei"/>
              </a:rPr>
              <a:t>還沒 routing 的新設計，也能直接預測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737360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4F8F6"/>
                </a:solidFill>
                <a:latin typeface="Microsoft Jheng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19072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33373C"/>
                </a:solidFill>
                <a:latin typeface="Microsoft JhengHei"/>
              </a:rPr>
              <a:t>按左上「上傳」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651760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6517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4F8F6"/>
                </a:solidFill>
                <a:latin typeface="Microsoft Jheng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33472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33373C"/>
                </a:solidFill>
                <a:latin typeface="Microsoft JhengHei"/>
              </a:rPr>
              <a:t>選 </a:t>
            </a:r>
            <a:r>
              <a:rPr sz="1600" b="1">
                <a:solidFill>
                  <a:srgbClr val="33373C"/>
                </a:solidFill>
                <a:latin typeface="Microsoft JhengHei"/>
              </a:rPr>
              <a:t>vortex_D_no_answer.npz</a:t>
            </a:r>
            <a:r>
              <a:rPr sz="1600" b="0">
                <a:solidFill>
                  <a:srgbClr val="33373C"/>
                </a:solidFill>
                <a:latin typeface="Microsoft JhengHei"/>
              </a:rPr>
              <a:t>：只有特徵圖和設計參數，沒有答案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566160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5661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4F8F6"/>
                </a:solidFill>
                <a:latin typeface="Microsoft Jheng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547872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33373C"/>
                </a:solidFill>
                <a:latin typeface="Microsoft JhengHei"/>
              </a:rPr>
              <a:t>四個步驟照樣能看：熱點、使用率圖、沒把握的區塊、判斷依據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480560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44805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4F8F6"/>
                </a:solidFill>
                <a:latin typeface="Microsoft Jheng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462272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33373C"/>
                </a:solidFill>
                <a:latin typeface="Microsoft JhengHei"/>
              </a:rPr>
              <a:t>右邊的「真實結果」顯示無資料，因為還沒 routing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400800" y="1737360"/>
          <a:ext cx="523951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14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3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74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74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5A5F66"/>
                          </a:solidFill>
                          <a:latin typeface="Microsoft JhengHei"/>
                        </a:rPr>
                        <a:t>檔案</a:t>
                      </a:r>
                    </a:p>
                  </a:txBody>
                  <a:tcPr marL="73152" marR="73152" anchor="ctr"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5A5F66"/>
                          </a:solidFill>
                          <a:latin typeface="Microsoft JhengHei"/>
                        </a:rPr>
                        <a:t>熱點</a:t>
                      </a:r>
                    </a:p>
                  </a:txBody>
                  <a:tcPr marL="73152" marR="73152" anchor="ctr"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5A5F66"/>
                          </a:solidFill>
                          <a:latin typeface="Microsoft JhengHei"/>
                        </a:rPr>
                        <a:t>U-Net F1</a:t>
                      </a:r>
                    </a:p>
                  </a:txBody>
                  <a:tcPr marL="73152" marR="73152" anchor="ctr"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5A5F66"/>
                          </a:solidFill>
                          <a:latin typeface="Microsoft JhengHei"/>
                        </a:rPr>
                        <a:t>eGR F1</a:t>
                      </a:r>
                    </a:p>
                  </a:txBody>
                  <a:tcPr marL="73152" marR="73152" anchor="ctr">
                    <a:solidFill>
                      <a:srgbClr val="F6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73C"/>
                          </a:solidFill>
                          <a:latin typeface="Microsoft JhengHei"/>
                        </a:rPr>
                        <a:t>vortex_A</a:t>
                      </a:r>
                    </a:p>
                  </a:txBody>
                  <a:tcPr marL="73152" marR="73152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33373C"/>
                          </a:solidFill>
                          <a:latin typeface="Microsoft JhengHei"/>
                        </a:rPr>
                        <a:t>8</a:t>
                      </a:r>
                    </a:p>
                  </a:txBody>
                  <a:tcPr marL="73152" marR="73152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33373C"/>
                          </a:solidFill>
                          <a:latin typeface="Microsoft JhengHei"/>
                        </a:rPr>
                        <a:t>0.778</a:t>
                      </a:r>
                    </a:p>
                  </a:txBody>
                  <a:tcPr marL="73152" marR="73152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33373C"/>
                          </a:solidFill>
                          <a:latin typeface="Microsoft JhengHei"/>
                        </a:rPr>
                        <a:t>0.583</a:t>
                      </a:r>
                    </a:p>
                  </a:txBody>
                  <a:tcPr marL="73152" marR="73152" anchor="ctr">
                    <a:solidFill>
                      <a:srgbClr val="FCF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73C"/>
                          </a:solidFill>
                          <a:latin typeface="Microsoft JhengHei"/>
                        </a:rPr>
                        <a:t>vortex_B</a:t>
                      </a:r>
                    </a:p>
                  </a:txBody>
                  <a:tcPr marL="73152" marR="73152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33373C"/>
                          </a:solidFill>
                          <a:latin typeface="Microsoft JhengHei"/>
                        </a:rPr>
                        <a:t>15</a:t>
                      </a:r>
                    </a:p>
                  </a:txBody>
                  <a:tcPr marL="73152" marR="73152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33373C"/>
                          </a:solidFill>
                          <a:latin typeface="Microsoft JhengHei"/>
                        </a:rPr>
                        <a:t>0.889</a:t>
                      </a:r>
                    </a:p>
                  </a:txBody>
                  <a:tcPr marL="73152" marR="73152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33373C"/>
                          </a:solidFill>
                          <a:latin typeface="Microsoft JhengHei"/>
                        </a:rPr>
                        <a:t>0.765</a:t>
                      </a:r>
                    </a:p>
                  </a:txBody>
                  <a:tcPr marL="73152" marR="73152" anchor="ctr">
                    <a:solidFill>
                      <a:srgbClr val="FCF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73C"/>
                          </a:solidFill>
                          <a:latin typeface="Microsoft JhengHei"/>
                        </a:rPr>
                        <a:t>vortex_C</a:t>
                      </a:r>
                    </a:p>
                  </a:txBody>
                  <a:tcPr marL="73152" marR="73152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33373C"/>
                          </a:solidFill>
                          <a:latin typeface="Microsoft JhengHei"/>
                        </a:rPr>
                        <a:t>21</a:t>
                      </a:r>
                    </a:p>
                  </a:txBody>
                  <a:tcPr marL="73152" marR="73152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33373C"/>
                          </a:solidFill>
                          <a:latin typeface="Microsoft JhengHei"/>
                        </a:rPr>
                        <a:t>0.606</a:t>
                      </a:r>
                    </a:p>
                  </a:txBody>
                  <a:tcPr marL="73152" marR="73152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33373C"/>
                          </a:solidFill>
                          <a:latin typeface="Microsoft JhengHei"/>
                        </a:rPr>
                        <a:t>0.529</a:t>
                      </a:r>
                    </a:p>
                  </a:txBody>
                  <a:tcPr marL="73152" marR="73152" anchor="ctr">
                    <a:solidFill>
                      <a:srgbClr val="FCF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5D56"/>
                          </a:solidFill>
                          <a:latin typeface="Microsoft JhengHei"/>
                        </a:rPr>
                        <a:t>vortex_D</a:t>
                      </a:r>
                    </a:p>
                  </a:txBody>
                  <a:tcPr marL="73152" marR="73152" anchor="ctr"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0B5D56"/>
                          </a:solidFill>
                          <a:latin typeface="Microsoft JhengHei"/>
                        </a:rPr>
                        <a:t>17</a:t>
                      </a:r>
                    </a:p>
                  </a:txBody>
                  <a:tcPr marL="73152" marR="73152" anchor="ctr"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0B5D56"/>
                          </a:solidFill>
                          <a:latin typeface="Microsoft JhengHei"/>
                        </a:rPr>
                        <a:t>無答案</a:t>
                      </a:r>
                    </a:p>
                  </a:txBody>
                  <a:tcPr marL="73152" marR="73152" anchor="ctr"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0B5D56"/>
                          </a:solidFill>
                          <a:latin typeface="Microsoft JhengHei"/>
                        </a:rPr>
                        <a:t>–</a:t>
                      </a:r>
                    </a:p>
                  </a:txBody>
                  <a:tcPr marL="73152" marR="73152" anchor="ctr">
                    <a:solidFill>
                      <a:srgbClr val="E4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400800" y="4069080"/>
            <a:ext cx="523951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5A5F66"/>
                </a:solidFill>
                <a:latin typeface="Microsoft JhengHei"/>
              </a:rPr>
              <a:t>全部取自沒參與訓練的 Vortex-small，依熱點數挑選，沒看模型表現。已預先算好，上傳約 0.6 秒出結果。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6F75"/>
                </a:solidFill>
                <a:latin typeface="Microsoft JhengHei"/>
              </a:rPr>
              <a:t>RouteVision · 林孟霆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6F75"/>
                </a:solidFill>
                <a:latin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1C1E21"/>
                </a:solidFill>
                <a:latin typeface="Microsoft JhengHei"/>
              </a:rPr>
              <a:t>模型夠大嗎？瓶頸在資料的多樣性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6949436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48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2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14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88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19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5A5F66"/>
                          </a:solidFill>
                          <a:latin typeface="Microsoft JhengHei"/>
                        </a:rPr>
                        <a:t>模型</a:t>
                      </a:r>
                    </a:p>
                  </a:txBody>
                  <a:tcPr marL="73152" marR="73152" anchor="ctr"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5A5F66"/>
                          </a:solidFill>
                          <a:latin typeface="Microsoft JhengHei"/>
                        </a:rPr>
                        <a:t>參數</a:t>
                      </a:r>
                    </a:p>
                  </a:txBody>
                  <a:tcPr marL="73152" marR="73152" anchor="ctr"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5A5F66"/>
                          </a:solidFill>
                          <a:latin typeface="Microsoft JhengHei"/>
                        </a:rPr>
                        <a:t>同設計</a:t>
                      </a:r>
                    </a:p>
                  </a:txBody>
                  <a:tcPr marL="73152" marR="73152" anchor="ctr"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5A5F66"/>
                          </a:solidFill>
                          <a:latin typeface="Microsoft JhengHei"/>
                        </a:rPr>
                        <a:t>沒看過的晶片</a:t>
                      </a:r>
                    </a:p>
                  </a:txBody>
                  <a:tcPr marL="73152" marR="73152" anchor="ctr">
                    <a:solidFill>
                      <a:srgbClr val="F6F5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5A5F66"/>
                          </a:solidFill>
                          <a:latin typeface="Microsoft JhengHei"/>
                        </a:rPr>
                        <a:t>落差</a:t>
                      </a:r>
                    </a:p>
                  </a:txBody>
                  <a:tcPr marL="73152" marR="73152" anchor="ctr">
                    <a:solidFill>
                      <a:srgbClr val="F6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73C"/>
                          </a:solidFill>
                          <a:latin typeface="Microsoft JhengHei"/>
                        </a:rPr>
                        <a:t>CNN</a:t>
                      </a:r>
                    </a:p>
                  </a:txBody>
                  <a:tcPr marL="73152" marR="73152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3373C"/>
                          </a:solidFill>
                          <a:latin typeface="Microsoft JhengHei"/>
                        </a:rPr>
                        <a:t>0.3 M</a:t>
                      </a:r>
                    </a:p>
                  </a:txBody>
                  <a:tcPr marL="73152" marR="73152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3373C"/>
                          </a:solidFill>
                          <a:latin typeface="Microsoft JhengHei"/>
                        </a:rPr>
                        <a:t>0.994</a:t>
                      </a:r>
                    </a:p>
                  </a:txBody>
                  <a:tcPr marL="73152" marR="73152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3373C"/>
                          </a:solidFill>
                          <a:latin typeface="Microsoft JhengHei"/>
                        </a:rPr>
                        <a:t>0.951</a:t>
                      </a:r>
                    </a:p>
                  </a:txBody>
                  <a:tcPr marL="73152" marR="73152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3373C"/>
                          </a:solidFill>
                          <a:latin typeface="Microsoft JhengHei"/>
                        </a:rPr>
                        <a:t>−0.043</a:t>
                      </a:r>
                    </a:p>
                  </a:txBody>
                  <a:tcPr marL="73152" marR="73152" anchor="ctr">
                    <a:solidFill>
                      <a:srgbClr val="FCF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73C"/>
                          </a:solidFill>
                          <a:latin typeface="Microsoft JhengHei"/>
                        </a:rPr>
                        <a:t>Multimodal</a:t>
                      </a:r>
                    </a:p>
                  </a:txBody>
                  <a:tcPr marL="73152" marR="73152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3373C"/>
                          </a:solidFill>
                          <a:latin typeface="Microsoft JhengHei"/>
                        </a:rPr>
                        <a:t>0.3 M</a:t>
                      </a:r>
                    </a:p>
                  </a:txBody>
                  <a:tcPr marL="73152" marR="73152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3373C"/>
                          </a:solidFill>
                          <a:latin typeface="Microsoft JhengHei"/>
                        </a:rPr>
                        <a:t>0.995</a:t>
                      </a:r>
                    </a:p>
                  </a:txBody>
                  <a:tcPr marL="73152" marR="73152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3373C"/>
                          </a:solidFill>
                          <a:latin typeface="Microsoft JhengHei"/>
                        </a:rPr>
                        <a:t>0.966</a:t>
                      </a:r>
                    </a:p>
                  </a:txBody>
                  <a:tcPr marL="73152" marR="73152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3373C"/>
                          </a:solidFill>
                          <a:latin typeface="Microsoft JhengHei"/>
                        </a:rPr>
                        <a:t>−0.029</a:t>
                      </a:r>
                    </a:p>
                  </a:txBody>
                  <a:tcPr marL="73152" marR="73152" anchor="ctr">
                    <a:solidFill>
                      <a:srgbClr val="FCF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73C"/>
                          </a:solidFill>
                          <a:latin typeface="Microsoft JhengHei"/>
                        </a:rPr>
                        <a:t>ViT-B/16</a:t>
                      </a:r>
                    </a:p>
                  </a:txBody>
                  <a:tcPr marL="73152" marR="73152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3373C"/>
                          </a:solidFill>
                          <a:latin typeface="Microsoft JhengHei"/>
                        </a:rPr>
                        <a:t>86 M</a:t>
                      </a:r>
                    </a:p>
                  </a:txBody>
                  <a:tcPr marL="73152" marR="73152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3373C"/>
                          </a:solidFill>
                          <a:latin typeface="Microsoft JhengHei"/>
                        </a:rPr>
                        <a:t>0.993</a:t>
                      </a:r>
                    </a:p>
                  </a:txBody>
                  <a:tcPr marL="73152" marR="73152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3373C"/>
                          </a:solidFill>
                          <a:latin typeface="Microsoft JhengHei"/>
                        </a:rPr>
                        <a:t>0.955</a:t>
                      </a:r>
                    </a:p>
                  </a:txBody>
                  <a:tcPr marL="73152" marR="73152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3373C"/>
                          </a:solidFill>
                          <a:latin typeface="Microsoft JhengHei"/>
                        </a:rPr>
                        <a:t>−0.038</a:t>
                      </a:r>
                    </a:p>
                  </a:txBody>
                  <a:tcPr marL="73152" marR="73152" anchor="ctr">
                    <a:solidFill>
                      <a:srgbClr val="FCF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B5D56"/>
                          </a:solidFill>
                          <a:latin typeface="Microsoft JhengHei"/>
                        </a:rPr>
                        <a:t>U-Net 多模態</a:t>
                      </a:r>
                    </a:p>
                  </a:txBody>
                  <a:tcPr marL="73152" marR="73152" anchor="ctr"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B5D56"/>
                          </a:solidFill>
                          <a:latin typeface="Microsoft JhengHei"/>
                        </a:rPr>
                        <a:t>14 M</a:t>
                      </a:r>
                    </a:p>
                  </a:txBody>
                  <a:tcPr marL="73152" marR="73152" anchor="ctr"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B5D56"/>
                          </a:solidFill>
                          <a:latin typeface="Microsoft JhengHei"/>
                        </a:rPr>
                        <a:t>0.997</a:t>
                      </a:r>
                    </a:p>
                  </a:txBody>
                  <a:tcPr marL="73152" marR="73152" anchor="ctr"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B5D56"/>
                          </a:solidFill>
                          <a:latin typeface="Microsoft JhengHei"/>
                        </a:rPr>
                        <a:t>0.984</a:t>
                      </a:r>
                    </a:p>
                  </a:txBody>
                  <a:tcPr marL="73152" marR="73152" anchor="ctr"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0B5D56"/>
                          </a:solidFill>
                          <a:latin typeface="Microsoft JhengHei"/>
                        </a:rPr>
                        <a:t>−0.013</a:t>
                      </a:r>
                    </a:p>
                  </a:txBody>
                  <a:tcPr marL="73152" marR="73152" anchor="ctr">
                    <a:solidFill>
                      <a:srgbClr val="E4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069080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6F75"/>
                </a:solidFill>
                <a:latin typeface="Microsoft JhengHei"/>
              </a:rPr>
              <a:t>ROC-AUC，三個設計平均。同設計＝和訓練同設計的驗證版圖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463040"/>
            <a:ext cx="3776472" cy="2514600"/>
          </a:xfrm>
          <a:prstGeom prst="roundRect">
            <a:avLst>
              <a:gd name="adj" fmla="val 8000"/>
            </a:avLst>
          </a:prstGeom>
          <a:solidFill>
            <a:srgbClr val="F6F5F1"/>
          </a:solidFill>
          <a:ln w="15875">
            <a:solidFill>
              <a:srgbClr val="E3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38160" y="1645920"/>
            <a:ext cx="329184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1500" b="1">
                <a:solidFill>
                  <a:srgbClr val="33373C"/>
                </a:solidFill>
                <a:latin typeface="Microsoft JhengHei"/>
              </a:rPr>
              <a:t>同設計大家都 ≈ 0.99：</a:t>
            </a:r>
            <a:r>
              <a:rPr sz="1500" b="0">
                <a:solidFill>
                  <a:srgbClr val="33373C"/>
                </a:solidFill>
                <a:latin typeface="Microsoft JhengHei"/>
              </a:rPr>
              <a:t>0.3 M 的小 CNN 就夠，題目太簡單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1500" b="1">
                <a:solidFill>
                  <a:srgbClr val="33373C"/>
                </a:solidFill>
                <a:latin typeface="Microsoft JhengHei"/>
              </a:rPr>
              <a:t>大 300 倍的 ViT：</a:t>
            </a:r>
            <a:r>
              <a:rPr sz="1500" b="0">
                <a:solidFill>
                  <a:srgbClr val="33373C"/>
                </a:solidFill>
                <a:latin typeface="Microsoft JhengHei"/>
              </a:rPr>
              <a:t>換晶片沒有比較好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1500" b="1">
                <a:solidFill>
                  <a:srgbClr val="0B5D56"/>
                </a:solidFill>
                <a:latin typeface="Microsoft JhengHei"/>
              </a:rPr>
              <a:t>逐像素＋設計參數：</a:t>
            </a:r>
            <a:r>
              <a:rPr sz="1500" b="0">
                <a:solidFill>
                  <a:srgbClr val="0B5D56"/>
                </a:solidFill>
                <a:latin typeface="Microsoft JhengHei"/>
              </a:rPr>
              <a:t>落差最小，換晶片最穩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33373C"/>
                </a:solidFill>
                <a:latin typeface="Microsoft JhengHei"/>
              </a:rPr>
              <a:t>限制　</a:t>
            </a:r>
            <a:r>
              <a:rPr sz="1500" b="0">
                <a:solidFill>
                  <a:srgbClr val="5A5F66"/>
                </a:solidFill>
                <a:latin typeface="Microsoft JhengHei"/>
              </a:rPr>
              <a:t>只有 3 個設計、每組只訓練一次（seed 42）；「多擠才算熱點」的閾值仍需依設計調整。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6F75"/>
                </a:solidFill>
                <a:latin typeface="Microsoft JhengHei"/>
              </a:rPr>
              <a:t>RouteVision · 林孟霆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6F75"/>
                </a:solidFill>
                <a:latin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1C1E21"/>
                </a:solidFill>
                <a:latin typeface="Microsoft JhengHei"/>
              </a:rPr>
              <a:t>總結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0F766E"/>
                </a:solidFill>
                <a:latin typeface="Microsoft Jheng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508760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1C1E21"/>
                </a:solidFill>
                <a:latin typeface="Microsoft JhengHei"/>
              </a:rPr>
              <a:t>用「沒看過的晶片」評估：U-Net 多模態 ROC-AUC </a:t>
            </a:r>
            <a:r>
              <a:rPr sz="2000" b="1">
                <a:solidFill>
                  <a:srgbClr val="1C1E21"/>
                </a:solidFill>
                <a:latin typeface="Microsoft JhengHei"/>
              </a:rPr>
              <a:t>0.984 ± 0.013</a:t>
            </a:r>
            <a:r>
              <a:rPr sz="2000" b="0">
                <a:solidFill>
                  <a:srgbClr val="1C1E21"/>
                </a:solidFill>
                <a:latin typeface="Microsoft JhengHei"/>
              </a:rPr>
              <a:t>，三個設計都贏 EDA 粗估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0F766E"/>
                </a:solidFill>
                <a:latin typeface="Microsoft Jheng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1C1E21"/>
                </a:solidFill>
                <a:latin typeface="Microsoft JhengHei"/>
              </a:rPr>
              <a:t>不只判斷熱點：預測整張使用率圖、標出沒把握的區塊、說明判斷依據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29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0F766E"/>
                </a:solidFill>
                <a:latin typeface="Microsoft Jheng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29000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1C1E21"/>
                </a:solidFill>
                <a:latin typeface="Microsoft JhengHei"/>
              </a:rPr>
              <a:t>從資料前處理到網頁的完整鑑別式 AI 系統，用上課程 Week 1–6 的工具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572000"/>
            <a:ext cx="11094415" cy="86868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15875">
            <a:solidFill>
              <a:srgbClr val="E3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572000"/>
            <a:ext cx="13716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F766E"/>
                </a:solidFill>
                <a:latin typeface="Microsoft JhengHei"/>
              </a:rPr>
              <a:t>未來工作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4572000"/>
            <a:ext cx="908273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5A5F66"/>
                </a:solidFill>
                <a:latin typeface="Microsoft JhengHei"/>
              </a:rPr>
              <a:t>加入更多 CircuitNet 設計　·　依設計自動調整熱點門檻　·　期末：LLM Agent 解讀結果，給工程師修改建議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6F75"/>
                </a:solidFill>
                <a:latin typeface="Microsoft JhengHei"/>
              </a:rPr>
              <a:t>RouteVision · 林孟霆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6F75"/>
                </a:solidFill>
                <a:latin typeface="Microsoft JhengHe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1366</Words>
  <Application>Microsoft Office PowerPoint</Application>
  <PresentationFormat>寬螢幕</PresentationFormat>
  <Paragraphs>227</Paragraphs>
  <Slides>12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6" baseType="lpstr"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林孟霆</cp:lastModifiedBy>
  <cp:revision>2</cp:revision>
  <dcterms:created xsi:type="dcterms:W3CDTF">2013-01-27T09:14:16Z</dcterms:created>
  <dcterms:modified xsi:type="dcterms:W3CDTF">2026-10-26T07:06:31Z</dcterms:modified>
  <cp:category/>
</cp:coreProperties>
</file>