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60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15 秒）大家好，我是林孟霆。我的期中專題叫 RouteVision：在晶片實體設計中，placement 一做完，就預測 routing 之後哪裡會繞線壅塞。右邊這個 8×8 的格子，就是我們的輸出：紅色是預測會塞的區塊。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秒）晶片後端的流程是 floorplan、placement、routing。routing 一次可能要跑好幾個小時，最痛的情況是跑完才發現某一區塞爆，只好回頭改 placement 再跑一輪。EDA 工具其實有內建的快速粗估，例如 RUDY 和 early global routing，但它們和最終結果的相關係數只有 0.55 和 0.65。所以我的目標是：placement 一完成，就用 AI 預測 routing 後哪裡會塞，而且要比這些粗估更準。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35 秒）輸入是 placement 一完成就能取得的 4 張特徵圖，再加上 6 個設計參數當第二種模態。輸出有兩種：8×8 個區塊是不是熱點，以及 U-Net 預測的整張使用率圖。資料用 CircuitNet，三個不同類型的設計：GPU、ML 加速器和 RISC-V CPU。每個設計有 96 張版圖，是同一顆電路的 96 種設計參數組合。注意三個設計的熱點比例差很多，從 10% 到 68%。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秒）這是整個專題最重要的設計理念。如果隨機切訓練和測試，同一個設計的版圖長得很像，所有模型的 ROC-AUC 都在 0.99 左右，但這是考到看過的題目。真正的問題是：換一顆沒看過的晶片還準不準。所以我依設計切分，三個設計輪流當完全沒看過的測試設計；閾值只在驗證集決定；而且一律和 EDA 工具內建的粗估比較。在這個標準下，學習方法的分數落在 0.89 到 0.99。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35 秒）方法上，我把課程每一週的工具都用上：EDA 粗估當基準，傳統的 OpenCV 手工特徵加 Random Forest，MLP、CNN、影像加設計參數的多模態模型、預訓練 ViT，以及把三個模型平均的 Ensemble。綠色框是這次的兩個亮點：U-Net 逐像素預測整張使用率圖，以及用三個模型的意見分歧來估計不確定度。另外有 Grad-CAM 解釋，最後包成 Flask 網頁。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45 秒）這是最主要的結果：三個設計輪流當沒看過的晶片，ROC-AUC 的平均和標準差。所有學習方法平均都贏過兩個 EDA 粗估。最好的是 U-Net 多模態，0.984，三個設計都是第一；連 eGR 最強的 openc910-1，它也從 0.987 被超過。逐張版圖比較，288 張裡有 191 張的熱點 F1 贏過 eGR。而且標準差只有 eGR 的五分之一，代表換一顆晶片表現也很穩定。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秒）第一個亮點是 U-Net。前面的方法只回答「這個區塊是不是熱點」，U-Net 直接預測 routing 後整張使用率圖。左邊是 eGR，中間是 U-Net，右邊是真實結果：U-Net 已經畫出了真實圖的結構，像是左下角低使用率的區塊和水平的繞線條紋。三個設計平均，像素相關係數從 eGR 的 0.65 提升到 0.81。消融實驗也發現，加入設計參數後像素層級差不多，但區塊熱點的判斷三個設計都變好，可能是設計參數幫助判斷整體使用率的高低。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秒）第二個亮點是可信度。Ensemble 有三個做法完全不同的成員，同一個區塊如果三個模型給的機率差很多，就代表模型沒把握。這不需要答案，推論時就能算。中間紫色的就是沒把握的區塊：這張版圖 Ensemble 錯了 6 格，其中 4 格就落在它標出的 7 格裡。平均來說，只要人工檢查最沒把握的 20% 區塊，就能抓到 78% 的錯誤。在分布差最多的 openc910-1 上，最直覺的「離閾值遠近」幾乎失效，只有 0.61，三個模型的分歧還有 0.93。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40 秒）大家可能會問：模型是不是太小？在同設計的驗證集上，0.3 M 參數的 CNN 就已經 0.99，題目本身太簡單，看不出差異。大 300 倍的 ViT 換一顆晶片也沒有比較好。真正讓跨晶片表現變好的，是把任務改成逐像素預測、再加上設計參數，落差從 0.03 到 0.04 降到 0.013。所以瓶頸是資料的多樣性，而不是模型容量。限制是只有 3 個設計、每組只訓練一次，而且熱點門檻還需要依設計調整，這是未來工作。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30 秒）系統是 Flask 後端加 HTML/JavaScript 前端。UI 的設計理念是把分析變成四個步驟的故事：每一步只講一件事，而且版面都一樣，左邊是 EDA 粗估、中間是 AI、右邊是真實結果，上方先給一句話結論。因為 ViT 在 CPU 上推論要 20 秒，server 啟動時會先把範例都算好，第一次分析從 62 秒降到 0.2 秒。接下來直接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1 分 30 秒）Demo 流程： 1. 點左邊第一張 Vortex-small（沒看過的晶片）。第 ① 步唸上方那句結論：U-Net 抓到 9/10、誤報 1；eGR 抓到 7/10、誤報 8。 2. 按 → 到第 ② 步：U-Net 的使用率圖和真實結果很像，相關係數 0.738 vs eGR 0.604。 3. 按 → 到第 ③ 步：Ensemble 錯了 6 格，其中 4 格在它標出的 7 個沒把握區塊裡。 4. 按 → 到第 ④ 步：U-Net 關注的位置和右邊真實熱點重疊。 5. 按左上「上傳」，選 demo/upload_examples/vortex_D_no_answer.npz：只顯示預測，模擬還沒 routing 的新 placement。 （如果現場電腦有問題，改播備用影片）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（約 20 秒）總結三點：第一，用沒看過的晶片評估，U-Net 多模態在三個設計上都勝過 EDA 工具的粗估；第二，系統不只判斷熱點，還能預測整張使用率圖、標出模型沒把握的地方，並說明判斷依據；第三，這是一個從資料到網頁的完整系統。未來會加入更多設計、讓熱點門檻能依設計自動調整，期末再加上 LLM Agent 解讀結果、給工程師修改建議。謝謝大家。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55750"/>
            <a:ext cx="10566400" cy="448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49884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FD3C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MMIP 期中專題 · 鑑別式 AI 系統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701991"/>
            <a:ext cx="10883392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3785262"/>
            <a:ext cx="6409690" cy="848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400" dirty="0">
                <a:solidFill>
                  <a:srgbClr val="D7E4E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placement 一完成，</a:t>
            </a:r>
            <a:endParaRPr lang="en-US" sz="2400" dirty="0"/>
          </a:p>
          <a:p>
            <a:pPr marL="0" indent="0" algn="l">
              <a:lnSpc>
                <a:spcPts val="3240"/>
              </a:lnSpc>
              <a:buNone/>
            </a:pPr>
            <a:r>
              <a:rPr lang="en-US" sz="2400" dirty="0">
                <a:solidFill>
                  <a:srgbClr val="D7E4E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就預測 routing 後哪裡會塞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9756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820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884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948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012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076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140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20400" y="1828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756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820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884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948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012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076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4140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820400" y="2235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756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820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2A4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884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948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2A4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076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4140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820400" y="2641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756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2A4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820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884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948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6012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0076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2A4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4140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820400" y="30480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756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3820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7884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48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2A4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6012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D947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0076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4140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820400" y="34544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9756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3820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7884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1948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6012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2A4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0076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04140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820400" y="38608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9756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3820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7884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1948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6012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0076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04140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820400" y="42672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756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3820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7884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948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6012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00076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4140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820400" y="4673600"/>
            <a:ext cx="355600" cy="355600"/>
          </a:xfrm>
          <a:prstGeom prst="roundRect">
            <a:avLst>
              <a:gd name="adj" fmla="val 10714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12800" y="5999493"/>
            <a:ext cx="78486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林孟霆 · </a:t>
            </a:r>
            <a:r>
              <a:rPr lang="en-US" sz="140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315833033  </a:t>
            </a:r>
            <a:r>
              <a:rPr lang="en-US" sz="1400" dirty="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2026/10/28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後端最怕：routing 跑完才發現塞爆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9150" y="1612900"/>
            <a:ext cx="1574800" cy="916847"/>
          </a:xfrm>
          <a:prstGeom prst="roundRect">
            <a:avLst>
              <a:gd name="adj" fmla="val 10389"/>
            </a:avLst>
          </a:prstGeom>
          <a:solidFill>
            <a:srgbClr val="FCFBF8"/>
          </a:solidFill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3706" y="1797050"/>
            <a:ext cx="116562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Floorplan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7910" y="2132278"/>
            <a:ext cx="1097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規劃晶片格局</a:t>
            </a:r>
            <a:endParaRPr lang="en-US" sz="12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01900" y="1982391"/>
            <a:ext cx="355600" cy="17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65450" y="1612900"/>
            <a:ext cx="1574800" cy="916847"/>
          </a:xfrm>
          <a:prstGeom prst="roundRect">
            <a:avLst>
              <a:gd name="adj" fmla="val 103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112380" y="1797050"/>
            <a:ext cx="128087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Placement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87090" y="2132278"/>
            <a:ext cx="731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D4ECE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擺放元件</a:t>
            </a:r>
            <a:endParaRPr lang="en-US" sz="1200" dirty="0"/>
          </a:p>
        </p:txBody>
      </p:sp>
      <p:pic>
        <p:nvPicPr>
          <p:cNvPr id="10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8200" y="1982391"/>
            <a:ext cx="355600" cy="177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11750" y="1612900"/>
            <a:ext cx="1574800" cy="916847"/>
          </a:xfrm>
          <a:prstGeom prst="roundRect">
            <a:avLst>
              <a:gd name="adj" fmla="val 10389"/>
            </a:avLst>
          </a:prstGeom>
          <a:solidFill>
            <a:srgbClr val="FCFBF8"/>
          </a:solidFill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424732" y="1797050"/>
            <a:ext cx="94876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41950" y="2132278"/>
            <a:ext cx="914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數小時以上</a:t>
            </a:r>
            <a:endParaRPr lang="en-US" sz="1200" dirty="0"/>
          </a:p>
        </p:txBody>
      </p:sp>
      <p:pic>
        <p:nvPicPr>
          <p:cNvPr id="14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94500" y="1982391"/>
            <a:ext cx="355600" cy="177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258050" y="1612900"/>
            <a:ext cx="1574800" cy="916847"/>
          </a:xfrm>
          <a:prstGeom prst="roundRect">
            <a:avLst>
              <a:gd name="adj" fmla="val 10389"/>
            </a:avLst>
          </a:prstGeom>
          <a:solidFill>
            <a:srgbClr val="FBECEC"/>
          </a:solidFill>
          <a:ln w="12700">
            <a:solidFill>
              <a:srgbClr val="E3A3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7557770" y="1797050"/>
            <a:ext cx="9753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262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發現壅塞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7679690" y="2132278"/>
            <a:ext cx="731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3A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繞不過去</a:t>
            </a:r>
            <a:endParaRPr lang="en-US" sz="1200" dirty="0"/>
          </a:p>
        </p:txBody>
      </p:sp>
      <p:pic>
        <p:nvPicPr>
          <p:cNvPr id="18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40800" y="1982391"/>
            <a:ext cx="355600" cy="1778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404350" y="1612900"/>
            <a:ext cx="1574800" cy="916847"/>
          </a:xfrm>
          <a:prstGeom prst="roundRect">
            <a:avLst>
              <a:gd name="adj" fmla="val 10389"/>
            </a:avLst>
          </a:prstGeom>
          <a:solidFill>
            <a:srgbClr val="FCFBF8"/>
          </a:solidFill>
          <a:ln w="12700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9704070" y="1797050"/>
            <a:ext cx="9753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回頭修改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9825990" y="2132278"/>
            <a:ext cx="731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再跑一輪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12800" y="2891698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</a:t>
            </a:r>
            <a:r>
              <a:rPr lang="en-US" sz="18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在 placement 一完成時就預測哪裡會塞，不用等 routing。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815975" y="3593373"/>
            <a:ext cx="7054850" cy="982530"/>
          </a:xfrm>
          <a:prstGeom prst="roundRect">
            <a:avLst>
              <a:gd name="adj" fmla="val 10018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1045633" y="3797631"/>
            <a:ext cx="67934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EDA 工具內建的粗估，和 routing 後真實使用率的相關係數（像素層級，3 設計平均）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45633" y="4104945"/>
            <a:ext cx="11130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RUDY </a:t>
            </a:r>
            <a:r>
              <a:rPr lang="en-US" sz="15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0.55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2379596" y="4104945"/>
            <a:ext cx="34347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early global routing（eGR）</a:t>
            </a:r>
            <a:r>
              <a:rPr lang="en-US" sz="15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0.65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077200" y="3590198"/>
            <a:ext cx="3302000" cy="988880"/>
          </a:xfrm>
          <a:prstGeom prst="roundRect">
            <a:avLst>
              <a:gd name="adj" fmla="val 10274"/>
            </a:avLst>
          </a:prstGeom>
          <a:solidFill>
            <a:srgbClr val="E4F1EE"/>
          </a:solidFill>
          <a:ln/>
        </p:spPr>
        <p:txBody>
          <a:bodyPr wrap="square" lIns="198842" tIns="167555" rIns="113498" bIns="167555" rtlCol="0" anchor="ctr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粗估不夠準，</a:t>
            </a:r>
            <a:endParaRPr lang="en-US" sz="16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所以有用 AI 的空間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任務：用 placement 的結果，預測 routing 壅塞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609725"/>
            <a:ext cx="3092450" cy="3044560"/>
          </a:xfrm>
          <a:prstGeom prst="roundRect">
            <a:avLst>
              <a:gd name="adj" fmla="val 3233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5633" y="1839384"/>
            <a:ext cx="27121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輸入（placement 後就有）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1165" y="2210197"/>
            <a:ext cx="2638975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8468" indent="-1884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張特徵圖 256×256：cell 密度、RUDY、腳位 RUDY、macro</a:t>
            </a:r>
            <a:endParaRPr lang="en-US" sz="1400" dirty="0"/>
          </a:p>
          <a:p>
            <a:pPr marL="188468" indent="-1884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個設計參數：時脈、使用率、macro 擺法、電源網路、filler（第二種模態）</a:t>
            </a:r>
            <a:endParaRPr lang="en-US" sz="1400" dirty="0"/>
          </a:p>
        </p:txBody>
      </p:sp>
      <p:pic>
        <p:nvPicPr>
          <p:cNvPr id="6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64000" y="3043106"/>
            <a:ext cx="355600" cy="17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5175" y="1609725"/>
            <a:ext cx="3092450" cy="3044560"/>
          </a:xfrm>
          <a:prstGeom prst="roundRect">
            <a:avLst>
              <a:gd name="adj" fmla="val 3233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04833" y="1839384"/>
            <a:ext cx="271212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輸出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70365" y="2210197"/>
            <a:ext cx="263897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8468" indent="-1884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8×8 區塊：是不是熱點（routing 後使用率 ≥ 0.6）</a:t>
            </a:r>
            <a:endParaRPr lang="en-US" sz="1400" dirty="0"/>
          </a:p>
          <a:p>
            <a:pPr marL="188468" indent="-188468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整張 256×256 使用率圖（U-Net）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26375" y="1609725"/>
            <a:ext cx="3549650" cy="3044560"/>
          </a:xfrm>
          <a:prstGeom prst="roundRect">
            <a:avLst>
              <a:gd name="adj" fmla="val 3233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056034" y="1839384"/>
            <a:ext cx="3183043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資料：CircuitNet-N14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8734" y="2197497"/>
          <a:ext cx="3077633" cy="1668330"/>
        </p:xfrm>
        <a:graphic>
          <a:graphicData uri="http://schemas.openxmlformats.org/drawingml/2006/table">
            <a:tbl>
              <a:tblPr/>
              <a:tblGrid>
                <a:gridCol w="135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設計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類型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熱點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Vortex-small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GPU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23%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418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nvdla-small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ML 加速器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10%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0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openc910-1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RISC-V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68%</a:t>
                      </a:r>
                      <a:endParaRPr lang="en-US" sz="13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8056034" y="3967428"/>
            <a:ext cx="318304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每個設計 96 張版圖＝96 種設計參數組合，共 288 張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5013061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標註：routing 後的真實繞線使用率。監督式學習，從輸入預測答案，屬於鑑別式 AI。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設計理念：不考看過的題目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609725"/>
            <a:ext cx="5166783" cy="1899841"/>
          </a:xfrm>
          <a:prstGeom prst="roundRect">
            <a:avLst>
              <a:gd name="adj" fmla="val 5181"/>
            </a:avLst>
          </a:prstGeom>
          <a:solidFill>
            <a:srgbClr val="FCFBF8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1033" y="1839384"/>
            <a:ext cx="479636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同設計隨機切分（各模型的驗證集）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71033" y="2146697"/>
            <a:ext cx="4796367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strike="sngStrike" dirty="0">
                <a:solidFill>
                  <a:srgbClr val="9A958B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≈ 0.99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71033" y="3005204"/>
            <a:ext cx="4796367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96 張版圖長得很像，等於考看過的題目，分數會虛高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5483" y="1612900"/>
            <a:ext cx="5177367" cy="1893491"/>
          </a:xfrm>
          <a:prstGeom prst="roundRect">
            <a:avLst>
              <a:gd name="adj" fmla="val 5030"/>
            </a:avLst>
          </a:prstGeom>
          <a:solidFill>
            <a:srgbClr val="FCFBF8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55833" y="1847850"/>
            <a:ext cx="479636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沒看過的晶片（完全沒參與訓練）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55833" y="2155165"/>
            <a:ext cx="4796367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56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0.89–0.99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55833" y="3013670"/>
            <a:ext cx="4796367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這才是真正的考驗，也是本專題所有結論的依據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3868341"/>
            <a:ext cx="308107" cy="299707"/>
          </a:xfrm>
          <a:custGeom>
            <a:avLst/>
            <a:gdLst/>
            <a:ahLst/>
            <a:cxnLst/>
            <a:rect l="l" t="t" r="r" b="b"/>
            <a:pathLst>
              <a:path w="308107" h="299707">
                <a:moveTo>
                  <a:pt x="149853" y="0"/>
                </a:moveTo>
                <a:lnTo>
                  <a:pt x="158254" y="0"/>
                </a:lnTo>
                <a:arcTo wR="149853" hR="149853" stAng="16200000" swAng="5400000"/>
                <a:lnTo>
                  <a:pt x="308107" y="149853"/>
                </a:lnTo>
                <a:arcTo wR="149853" hR="149853" stAng="0" swAng="5400000"/>
                <a:lnTo>
                  <a:pt x="149853" y="299707"/>
                </a:lnTo>
                <a:arcTo wR="149853" hR="149853" stAng="5400000" swAng="5400000"/>
                <a:lnTo>
                  <a:pt x="0" y="149853"/>
                </a:lnTo>
                <a:arcTo wR="149853" hR="149853" stAng="10800000" swAng="5400000"/>
                <a:close/>
              </a:path>
            </a:pathLst>
          </a:custGeom>
          <a:solidFill>
            <a:srgbClr val="0F766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2507" y="3893741"/>
            <a:ext cx="316322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依設計切分，三個設計輪流當測試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5733" y="3868341"/>
            <a:ext cx="308107" cy="299707"/>
          </a:xfrm>
          <a:custGeom>
            <a:avLst/>
            <a:gdLst/>
            <a:ahLst/>
            <a:cxnLst/>
            <a:rect l="l" t="t" r="r" b="b"/>
            <a:pathLst>
              <a:path w="308107" h="299707">
                <a:moveTo>
                  <a:pt x="149853" y="0"/>
                </a:moveTo>
                <a:lnTo>
                  <a:pt x="158254" y="0"/>
                </a:lnTo>
                <a:arcTo wR="149853" hR="149853" stAng="16200000" swAng="5400000"/>
                <a:lnTo>
                  <a:pt x="308107" y="149853"/>
                </a:lnTo>
                <a:arcTo wR="149853" hR="149853" stAng="0" swAng="5400000"/>
                <a:lnTo>
                  <a:pt x="149853" y="299707"/>
                </a:lnTo>
                <a:arcTo wR="149853" hR="149853" stAng="5400000" swAng="5400000"/>
                <a:lnTo>
                  <a:pt x="0" y="149853"/>
                </a:lnTo>
                <a:arcTo wR="149853" hR="149853" stAng="10800000" swAng="5400000"/>
                <a:close/>
              </a:path>
            </a:pathLst>
          </a:custGeom>
          <a:solidFill>
            <a:srgbClr val="0F766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95441" y="3893741"/>
            <a:ext cx="316322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閾值只在驗證集決定，不偷看測試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8667" y="3868341"/>
            <a:ext cx="308107" cy="299707"/>
          </a:xfrm>
          <a:custGeom>
            <a:avLst/>
            <a:gdLst/>
            <a:ahLst/>
            <a:cxnLst/>
            <a:rect l="l" t="t" r="r" b="b"/>
            <a:pathLst>
              <a:path w="308107" h="299707">
                <a:moveTo>
                  <a:pt x="149853" y="0"/>
                </a:moveTo>
                <a:lnTo>
                  <a:pt x="158254" y="0"/>
                </a:lnTo>
                <a:arcTo wR="149853" hR="149853" stAng="16200000" swAng="5400000"/>
                <a:lnTo>
                  <a:pt x="308107" y="149853"/>
                </a:lnTo>
                <a:arcTo wR="149853" hR="149853" stAng="0" swAng="5400000"/>
                <a:lnTo>
                  <a:pt x="149853" y="299707"/>
                </a:lnTo>
                <a:arcTo wR="149853" hR="149853" stAng="5400000" swAng="5400000"/>
                <a:lnTo>
                  <a:pt x="0" y="149853"/>
                </a:lnTo>
                <a:arcTo wR="149853" hR="149853" stAng="10800000" swAng="5400000"/>
                <a:close/>
              </a:path>
            </a:pathLst>
          </a:custGeom>
          <a:solidFill>
            <a:srgbClr val="0F766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8374" y="3893741"/>
            <a:ext cx="2628424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一律和 EDA 工具的粗估比較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方法：課程每週的工具都派上用場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58925"/>
            <a:ext cx="2540000" cy="1068784"/>
          </a:xfrm>
          <a:prstGeom prst="roundRect">
            <a:avLst>
              <a:gd name="adj" fmla="val 8021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82133" y="1699685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基準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2133" y="1951106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RUDY、eGR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2133" y="2273632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EDA 工具內建粗估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9325" y="1558925"/>
            <a:ext cx="2540000" cy="1068784"/>
          </a:xfrm>
          <a:prstGeom prst="roundRect">
            <a:avLst>
              <a:gd name="adj" fmla="val 8021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5483" y="1699685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Week 1–2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5483" y="1951106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OpenCV＋RF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5483" y="2273632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Sobel 等手工特徵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62675" y="1558925"/>
            <a:ext cx="2540000" cy="1068784"/>
          </a:xfrm>
          <a:prstGeom prst="roundRect">
            <a:avLst>
              <a:gd name="adj" fmla="val 8021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28833" y="1699685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Week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28833" y="1951106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28833" y="2273632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視窗攤平後分類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36025" y="1558925"/>
            <a:ext cx="2540000" cy="1068784"/>
          </a:xfrm>
          <a:prstGeom prst="roundRect">
            <a:avLst>
              <a:gd name="adj" fmla="val 8021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02184" y="1699685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2184" y="1951106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CNN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2184" y="2273632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0.3 M 參數，小而夠用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2761059"/>
            <a:ext cx="2540000" cy="1085718"/>
          </a:xfrm>
          <a:prstGeom prst="roundRect">
            <a:avLst>
              <a:gd name="adj" fmla="val 7896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2133" y="2901820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Week 2–3、5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2133" y="3153240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2133" y="3475766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影像＋設計參數融合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89325" y="2761059"/>
            <a:ext cx="2540000" cy="1085718"/>
          </a:xfrm>
          <a:prstGeom prst="roundRect">
            <a:avLst>
              <a:gd name="adj" fmla="val 7896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5483" y="2901820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Week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5483" y="3153240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ViT-B/16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5483" y="3475766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ImageNet 預訓練微調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62675" y="2761059"/>
            <a:ext cx="2540000" cy="1085718"/>
          </a:xfrm>
          <a:prstGeom prst="roundRect">
            <a:avLst>
              <a:gd name="adj" fmla="val 7896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28833" y="2901820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集成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8833" y="3153240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Ensemble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8833" y="3475766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RF＋Multimodal＋ViT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39200" y="2764234"/>
            <a:ext cx="2533650" cy="1079368"/>
          </a:xfrm>
          <a:prstGeom prst="roundRect">
            <a:avLst>
              <a:gd name="adj" fmla="val 7648"/>
            </a:avLst>
          </a:prstGeom>
          <a:solidFill>
            <a:srgbClr val="E4F1E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10650" y="2910284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Week 3、5 · 加分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010650" y="3161705"/>
            <a:ext cx="2256473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U-Net＋FiLM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10650" y="3484234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逐像素預測使用率圖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9150" y="3983304"/>
            <a:ext cx="2533650" cy="1079368"/>
          </a:xfrm>
          <a:prstGeom prst="roundRect">
            <a:avLst>
              <a:gd name="adj" fmla="val 7648"/>
            </a:avLst>
          </a:prstGeom>
          <a:solidFill>
            <a:srgbClr val="E4F1E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0600" y="4129354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可信度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90600" y="4380774"/>
            <a:ext cx="2256473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不確定度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0600" y="4703301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三個模型意見分歧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89325" y="3980129"/>
            <a:ext cx="2540000" cy="1085718"/>
          </a:xfrm>
          <a:prstGeom prst="roundRect">
            <a:avLst>
              <a:gd name="adj" fmla="val 7896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5483" y="4120886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可解釋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5483" y="4372307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Grad-CAM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655483" y="4694833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CNN、U-Net 判斷依據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62675" y="3980129"/>
            <a:ext cx="2540000" cy="1085718"/>
          </a:xfrm>
          <a:prstGeom prst="roundRect">
            <a:avLst>
              <a:gd name="adj" fmla="val 7896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28833" y="4120886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評估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28833" y="4372307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輪流測試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28833" y="4694833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三個設計各當一次測試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36025" y="3980129"/>
            <a:ext cx="2540000" cy="1085718"/>
          </a:xfrm>
          <a:prstGeom prst="roundRect">
            <a:avLst>
              <a:gd name="adj" fmla="val 7896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002184" y="4120886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Week 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002184" y="4372307"/>
            <a:ext cx="227391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Flask 網頁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02184" y="4694833"/>
            <a:ext cx="227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REST API＋Canvas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結果：沒看過的晶片上，AI 更準也更穩定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1555750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U-Net 多模態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74900" y="1576059"/>
            <a:ext cx="3632200" cy="1905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08700" y="1564615"/>
            <a:ext cx="109081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0.984 ± 0.013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875765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Ensemble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4900" y="1896070"/>
            <a:ext cx="3276600" cy="190500"/>
          </a:xfrm>
          <a:prstGeom prst="roundRect">
            <a:avLst>
              <a:gd name="adj" fmla="val 13333"/>
            </a:avLst>
          </a:prstGeom>
          <a:solidFill>
            <a:srgbClr val="9CBA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53100" y="1884629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0.971 ± 0.014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195779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U-Net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4900" y="2216085"/>
            <a:ext cx="3251200" cy="190500"/>
          </a:xfrm>
          <a:prstGeom prst="roundRect">
            <a:avLst>
              <a:gd name="adj" fmla="val 13333"/>
            </a:avLst>
          </a:prstGeom>
          <a:solidFill>
            <a:srgbClr val="9CBA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27700" y="2204641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0.970 ± 0.020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2515791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4900" y="2536099"/>
            <a:ext cx="3168650" cy="190500"/>
          </a:xfrm>
          <a:prstGeom prst="roundRect">
            <a:avLst>
              <a:gd name="adj" fmla="val 13333"/>
            </a:avLst>
          </a:prstGeom>
          <a:solidFill>
            <a:srgbClr val="9CBA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45150" y="2524655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0.967 ± 0.020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2000" y="2835805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Multimodal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4900" y="2856111"/>
            <a:ext cx="3143250" cy="190500"/>
          </a:xfrm>
          <a:prstGeom prst="roundRect">
            <a:avLst>
              <a:gd name="adj" fmla="val 13333"/>
            </a:avLst>
          </a:prstGeom>
          <a:solidFill>
            <a:srgbClr val="9CBA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19750" y="2844670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0.966 ± 0.018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2000" y="3155820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4900" y="3176126"/>
            <a:ext cx="2844800" cy="190500"/>
          </a:xfrm>
          <a:prstGeom prst="roundRect">
            <a:avLst>
              <a:gd name="adj" fmla="val 13333"/>
            </a:avLst>
          </a:prstGeom>
          <a:solidFill>
            <a:srgbClr val="9CBA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21300" y="3164681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0.955 ± 0.021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3475831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CNN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74900" y="3496140"/>
            <a:ext cx="2736850" cy="190500"/>
          </a:xfrm>
          <a:prstGeom prst="roundRect">
            <a:avLst>
              <a:gd name="adj" fmla="val 13333"/>
            </a:avLst>
          </a:prstGeom>
          <a:solidFill>
            <a:srgbClr val="9CBA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3350" y="3484696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0.951 ± 0.022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2000" y="3795846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74900" y="3816152"/>
            <a:ext cx="2197100" cy="190500"/>
          </a:xfrm>
          <a:prstGeom prst="roundRect">
            <a:avLst>
              <a:gd name="adj" fmla="val 13333"/>
            </a:avLst>
          </a:prstGeom>
          <a:solidFill>
            <a:srgbClr val="9CBA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73600" y="3804710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0.931 ± 0.047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2000" y="4115860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eGR（EDA）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374900" y="4136166"/>
            <a:ext cx="1651000" cy="190500"/>
          </a:xfrm>
          <a:prstGeom prst="roundRect">
            <a:avLst>
              <a:gd name="adj" fmla="val 13333"/>
            </a:avLst>
          </a:prstGeom>
          <a:solidFill>
            <a:srgbClr val="C9C3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27500" y="4124722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0.911 ± 0.069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2000" y="4435872"/>
            <a:ext cx="15113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RUDY（EDA）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74900" y="4456181"/>
            <a:ext cx="838200" cy="190500"/>
          </a:xfrm>
          <a:prstGeom prst="roundRect">
            <a:avLst>
              <a:gd name="adj" fmla="val 13333"/>
            </a:avLst>
          </a:prstGeom>
          <a:solidFill>
            <a:srgbClr val="C9C3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14700" y="4444736"/>
            <a:ext cx="10328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0.881 ± 0.061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4755886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ROC-AUC，三個設計輪流當測試的平均 ± 標準差；橫軸從 0.85 開始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04200" y="1555750"/>
            <a:ext cx="327025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/ 3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204200" y="2040865"/>
            <a:ext cx="3270250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個設計都是第一，包括 eGR 最強的 openc910-1（0.994 vs 0.987）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04200" y="2748229"/>
            <a:ext cx="327025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191 / 288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204200" y="3233341"/>
            <a:ext cx="3270250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張版圖的熱點 F1 贏過 eGR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04200" y="3701324"/>
            <a:ext cx="327025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± 0.013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8204200" y="4186436"/>
            <a:ext cx="3270250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標準差只有 eGR（± 0.069）的五分之一，換晶片也穩定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亮點一：U-Net 直接預測整張使用率圖</a:t>
            </a:r>
            <a:endParaRPr lang="en-US" sz="3000" dirty="0"/>
          </a:p>
        </p:txBody>
      </p:sp>
      <p:pic>
        <p:nvPicPr>
          <p:cNvPr id="3" name="Image 0" descr="同一張沒看過的版圖：eGR 使用率（Pearson 0.604）、U-Net 多模態預測（Pearson 0.738）、routing 後真實使用率，三張圖並排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1905000" y="1454150"/>
            <a:ext cx="8382000" cy="3060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86914" y="4718050"/>
            <a:ext cx="290962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像素相關係數 </a:t>
            </a:r>
            <a:r>
              <a:rPr lang="en-US" sz="14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0.81</a:t>
            </a: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（eGR 0.65）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96537" y="4718050"/>
            <a:ext cx="280312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結構相似度 SSIM </a:t>
            </a:r>
            <a:r>
              <a:rPr lang="en-US" sz="14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0.45</a:t>
            </a: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（0.24）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99665" y="4718050"/>
            <a:ext cx="25265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誤差 NRMSE </a:t>
            </a:r>
            <a:r>
              <a:rPr lang="en-US" sz="14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0.16</a:t>
            </a: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（0.34）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4304" y="5170159"/>
            <a:ext cx="108833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ImageNet ResNet-18 編碼器＋U-Net 解碼器（14 M 參數），設計參數用 FiLM 注入。</a:t>
            </a:r>
            <a:endParaRPr lang="en-US" sz="1300" dirty="0"/>
          </a:p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消融：加入設計參數後，區塊熱點 ROC-AUC 0.970 → 0.984，三個設計都提升。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亮點二：模型知道自己哪裡沒把握</a:t>
            </a:r>
            <a:endParaRPr lang="en-US" sz="3000" dirty="0"/>
          </a:p>
        </p:txBody>
      </p:sp>
      <p:pic>
        <p:nvPicPr>
          <p:cNvPr id="3" name="Image 0" descr="Ensemble 預測（F1 0.750）、三個模型意見分歧標出的 7 個沒把握區塊、routing 後真實熱點，三張圖並排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1905000" y="1454150"/>
            <a:ext cx="8382000" cy="3060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1712" y="4718050"/>
            <a:ext cx="4858477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最沒把握的 20% 區塊，涵蓋 </a:t>
            </a:r>
            <a:r>
              <a:rPr lang="en-US" sz="14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78%</a:t>
            </a: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的錯誤（對照組 67%）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910189" y="4718050"/>
            <a:ext cx="38760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分布差最多的 openc910-1：</a:t>
            </a:r>
            <a:r>
              <a:rPr lang="en-US" sz="14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0.93</a:t>
            </a:r>
            <a:r>
              <a:rPr lang="en-US" sz="14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vs 0.61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4304" y="5170159"/>
            <a:ext cx="108833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不確定度＝RF、Multimodal、ViT 三個模型熱點機率的標準差，推論時就能算，不需要答案。</a:t>
            </a:r>
            <a:endParaRPr lang="en-US" sz="1300" dirty="0"/>
          </a:p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對照組：分數越接近閾值越不確定。數字為三個設計輪流測試的平均（AUROC：用不確定度找出判錯區塊）。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模型夠大嗎？瓶頸在資料的多樣性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68450"/>
          <a:ext cx="6692900" cy="2330450"/>
        </p:xfrm>
        <a:graphic>
          <a:graphicData uri="http://schemas.openxmlformats.org/drawingml/2006/table">
            <a:tbl>
              <a:tblPr/>
              <a:tblGrid>
                <a:gridCol w="200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4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8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模型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參數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同設計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沒看過的晶片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落差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CNN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0.3 M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0.994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0.951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−0.043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Multimodal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0.3 M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0.995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0.966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−0.029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ViT-B/16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86 M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0.993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0.955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−0.038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U-Net 多模態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 M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0.997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0.984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3373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−0.013</a:t>
                      </a:r>
                      <a:endParaRPr lang="en-US" sz="15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0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000500"/>
            <a:ext cx="69067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ROC-AUC，三個設計平均。同設計＝和訓練同設計的驗證版圖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26375" y="1558925"/>
            <a:ext cx="3549650" cy="2259939"/>
          </a:xfrm>
          <a:prstGeom prst="roundRect">
            <a:avLst>
              <a:gd name="adj" fmla="val 4355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56034" y="1788585"/>
            <a:ext cx="31830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同設計大家都 ≈ 0.99</a:t>
            </a:r>
            <a:r>
              <a:rPr lang="en-US" sz="14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0.3 M 的小 CNN 就夠，題目太簡單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56034" y="2431126"/>
            <a:ext cx="31830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大 300 倍的 ViT</a:t>
            </a:r>
            <a:r>
              <a:rPr lang="en-US" sz="14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換晶片沒有比較好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56034" y="3073667"/>
            <a:ext cx="318304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逐像素＋設計參數</a:t>
            </a:r>
            <a:r>
              <a:rPr lang="en-US" sz="1400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</a:t>
            </a:r>
            <a:endParaRPr lang="en-US" sz="1400" dirty="0"/>
          </a:p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0B5D5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落差最小，換晶片最穩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451862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33373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限制</a:t>
            </a:r>
            <a:r>
              <a:rPr lang="en-US" sz="13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只有 3 個設計、每組只訓練一次（seed 42）；「多擠才算熱點」的閾值仍需依設計調整。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系統：把分析變成四個步驟的故事</a:t>
            </a:r>
            <a:endParaRPr lang="en-US" sz="3000" dirty="0"/>
          </a:p>
        </p:txBody>
      </p:sp>
      <p:pic>
        <p:nvPicPr>
          <p:cNvPr id="3" name="Image 0" descr="RouteVision 網頁的熱點預測步驟：左側版圖清單，右側 eGR、U-Net 多模態、真實熱點三張圖並排，上方一句話結論"/>
          <p:cNvPicPr>
            <a:picLocks noChangeAspect="1"/>
          </p:cNvPicPr>
          <p:nvPr/>
        </p:nvPicPr>
        <p:blipFill>
          <a:blip r:embed="rId3"/>
          <a:srcRect l="-70" r="-70"/>
          <a:stretch/>
        </p:blipFill>
        <p:spPr>
          <a:xfrm>
            <a:off x="819150" y="1562100"/>
            <a:ext cx="6845300" cy="3892550"/>
          </a:xfrm>
          <a:prstGeom prst="roundRect">
            <a:avLst>
              <a:gd name="adj" fmla="val 1794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815975" y="1558925"/>
            <a:ext cx="6851650" cy="3898900"/>
          </a:xfrm>
          <a:prstGeom prst="roundRect">
            <a:avLst>
              <a:gd name="adj" fmla="val 1873"/>
            </a:avLst>
          </a:prstGeom>
          <a:noFill/>
          <a:ln w="6350">
            <a:solidFill>
              <a:srgbClr val="D8D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975600" y="1555750"/>
            <a:ext cx="35057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r>
              <a:rPr lang="en-US" sz="15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一步只講一件事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975600" y="1847850"/>
            <a:ext cx="3505708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熱點 → 使用率圖 → 可信度 → 判斷依據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75600" y="2246579"/>
            <a:ext cx="35057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r>
              <a:rPr lang="en-US" sz="15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同一個版面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75600" y="2538679"/>
            <a:ext cx="3505708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EDA ↔ AI ↔ 真實三圖並排，滑鼠同步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75600" y="2937408"/>
            <a:ext cx="35057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r>
              <a:rPr lang="en-US" sz="15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先給結論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75600" y="3229508"/>
            <a:ext cx="3505708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一句話摘要，細節收進展開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75600" y="3628231"/>
            <a:ext cx="35057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r>
              <a:rPr lang="en-US" sz="15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不讓人等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75600" y="3920331"/>
            <a:ext cx="3505708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5F6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啟動時預先計算：第一次分析 62 秒 → 0.2 秒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32639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FD3C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86347"/>
            <a:ext cx="108833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i="0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一張沒看過的版圖，四個步驟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3275347"/>
            <a:ext cx="2546350" cy="1178454"/>
          </a:xfrm>
          <a:prstGeom prst="roundRect">
            <a:avLst>
              <a:gd name="adj" fmla="val 8621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3453147"/>
            <a:ext cx="22041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FD3C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000" y="3722359"/>
            <a:ext cx="22041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熱點預測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4062679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eGR ↔ AI ↔ 真實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86150" y="3275347"/>
            <a:ext cx="2546350" cy="1178454"/>
          </a:xfrm>
          <a:prstGeom prst="roundRect">
            <a:avLst>
              <a:gd name="adj" fmla="val 8621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9350" y="3453147"/>
            <a:ext cx="22041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FD3C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89350" y="3722359"/>
            <a:ext cx="22041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使用率圖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89350" y="4062679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U-Net 整張預測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59500" y="3275347"/>
            <a:ext cx="2546350" cy="1178454"/>
          </a:xfrm>
          <a:prstGeom prst="roundRect">
            <a:avLst>
              <a:gd name="adj" fmla="val 8621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2700" y="3453147"/>
            <a:ext cx="22041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FD3C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2700" y="3722359"/>
            <a:ext cx="22041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可信度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62700" y="4062679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沒把握的區塊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32850" y="3275347"/>
            <a:ext cx="2546350" cy="1178454"/>
          </a:xfrm>
          <a:prstGeom prst="roundRect">
            <a:avLst>
              <a:gd name="adj" fmla="val 8621"/>
            </a:avLst>
          </a:prstGeom>
          <a:solidFill>
            <a:srgbClr val="1F30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36050" y="3453147"/>
            <a:ext cx="220414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FD3C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36050" y="3722359"/>
            <a:ext cx="2204149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4F8F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判斷依據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36050" y="4062679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Grad-CAM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75859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7E4E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最後上傳一張新的版圖：沒有答案，只看預測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017289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FB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備用影片：[Demo 影片連結]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800" y="1555750"/>
            <a:ext cx="3556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95400" y="1555750"/>
            <a:ext cx="10386314" cy="33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用「沒看過的晶片」評估：U-Net 多模態 ROC-AUC </a:t>
            </a:r>
            <a:r>
              <a:rPr lang="en-US" sz="1700" b="1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0.984 ± 0.013</a:t>
            </a:r>
            <a:r>
              <a:rPr lang="en-US" sz="17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，三個設計都勝過 EDA 粗估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071954"/>
            <a:ext cx="3556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5400" y="2071954"/>
            <a:ext cx="10386314" cy="33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不只判斷熱點：預測整張使用率圖、標出沒把握的區塊、說明判斷依據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2588158"/>
            <a:ext cx="3556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5400" y="2588158"/>
            <a:ext cx="10386314" cy="33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C1E2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從資料前處理到網頁的完整鑑別式 AI 系統，用上課程 Week 1–6 的工具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5975" y="3209131"/>
            <a:ext cx="10560050" cy="606623"/>
          </a:xfrm>
          <a:prstGeom prst="roundRect">
            <a:avLst>
              <a:gd name="adj" fmla="val 16225"/>
            </a:avLst>
          </a:prstGeom>
          <a:solidFill>
            <a:srgbClr val="F6F5F1"/>
          </a:solidFill>
          <a:ln w="6350">
            <a:solidFill>
              <a:srgbClr val="E3D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5633" y="3387992"/>
            <a:ext cx="762000" cy="2743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6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未來工作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0833" y="3388587"/>
            <a:ext cx="936201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4E5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加入更多 CircuitNet 設計　·　依設計自動調整熱點門檻　·　期末：LLM Agent 解讀結果，給工程師修改建議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RouteVision · 林孟霆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uteVision 期中報告">
  <a:themeElements>
    <a:clrScheme name="RouteVision 期中報告">
      <a:dk1>
        <a:srgbClr val="1C1E21"/>
      </a:dk1>
      <a:lt1>
        <a:srgbClr val="FCFBF8"/>
      </a:lt1>
      <a:dk2>
        <a:srgbClr val="545557"/>
      </a:dk2>
      <a:lt2>
        <a:srgbClr val="E6E5E3"/>
      </a:lt2>
      <a:accent1>
        <a:srgbClr val="0F766E"/>
      </a:accent1>
      <a:accent2>
        <a:srgbClr val="D9474C"/>
      </a:accent2>
      <a:accent3>
        <a:srgbClr val="0B5D56"/>
      </a:accent3>
      <a:accent4>
        <a:srgbClr val="6FD3C3"/>
      </a:accent4>
      <a:accent5>
        <a:srgbClr val="A8262B"/>
      </a:accent5>
      <a:accent6>
        <a:srgbClr val="7A3A3C"/>
      </a:accent6>
      <a:hlink>
        <a:srgbClr val="0563C1"/>
      </a:hlink>
      <a:folHlink>
        <a:srgbClr val="954F72"/>
      </a:folHlink>
    </a:clrScheme>
    <a:fontScheme name="RouteVision 期中報告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Office PowerPoint</Application>
  <PresentationFormat>寬螢幕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Noto Sans TC</vt:lpstr>
      <vt:lpstr>Arial</vt:lpstr>
      <vt:lpstr>RouteVision 期中報告</vt:lpstr>
      <vt:lpstr>RouteVision</vt:lpstr>
      <vt:lpstr>後端最怕：routing 跑完才發現塞爆</vt:lpstr>
      <vt:lpstr>任務：用 placement 的結果，預測 routing 壅塞</vt:lpstr>
      <vt:lpstr>設計理念：不考看過的題目</vt:lpstr>
      <vt:lpstr>方法：課程每週的工具都派上用場</vt:lpstr>
      <vt:lpstr>結果：沒看過的晶片上，AI 更準也更穩定</vt:lpstr>
      <vt:lpstr>亮點一：U-Net 直接預測整張使用率圖</vt:lpstr>
      <vt:lpstr>亮點二：模型知道自己哪裡沒把握</vt:lpstr>
      <vt:lpstr>模型夠大嗎？瓶頸在資料的多樣性</vt:lpstr>
      <vt:lpstr>系統：把分析變成四個步驟的故事</vt:lpstr>
      <vt:lpstr>一張沒看過的版圖，四個步驟</vt:lpstr>
      <vt:lpstr>總結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RouteVision 期中報告</dc:title>
  <dc:subject/>
  <dc:creator/>
  <cp:lastModifiedBy>林孟霆</cp:lastModifiedBy>
  <cp:revision>2</cp:revision>
  <dcterms:created xsi:type="dcterms:W3CDTF">2026-10-24T20:21:17Z</dcterms:created>
  <dcterms:modified xsi:type="dcterms:W3CDTF">2026-10-24T20:21:48Z</dcterms:modified>
</cp:coreProperties>
</file>